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Cairo SemiBold"/>
      <p:regular r:id="rId21"/>
      <p:bold r:id="rId22"/>
    </p:embeddedFont>
    <p:embeddedFont>
      <p:font typeface="Poppins"/>
      <p:regular r:id="rId23"/>
      <p:bold r:id="rId24"/>
      <p:italic r:id="rId25"/>
      <p:boldItalic r:id="rId26"/>
    </p:embeddedFont>
    <p:embeddedFont>
      <p:font typeface="Cairo"/>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5F04A3-E253-49F4-B0F5-F8532339FE82}">
  <a:tblStyle styleId="{985F04A3-E253-49F4-B0F5-F8532339FE8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005CFBDC-0489-4317-B2A6-3C4616E7497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airoSemiBold-bold.fntdata"/><Relationship Id="rId21" Type="http://schemas.openxmlformats.org/officeDocument/2006/relationships/font" Target="fonts/CairoSemiBold-regular.fntdata"/><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Cairo-bold.fntdata"/><Relationship Id="rId27" Type="http://schemas.openxmlformats.org/officeDocument/2006/relationships/font" Target="fonts/Cair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8e5fbb412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8e5fbb41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8e5fbb41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8e5fbb4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8e5fbb412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e8e5fbb41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14.png"/><Relationship Id="rId7"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7.png"/><Relationship Id="rId5" Type="http://schemas.openxmlformats.org/officeDocument/2006/relationships/image" Target="../media/image10.pn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15.png"/><Relationship Id="rId7"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9"/>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965358" y="2551807"/>
            <a:ext cx="10261282" cy="6685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4050" u="none" cap="none" strike="noStrike">
                <a:solidFill>
                  <a:srgbClr val="F1F5F9"/>
                </a:solidFill>
                <a:latin typeface="Cairo"/>
                <a:ea typeface="Cairo"/>
                <a:cs typeface="Cairo"/>
                <a:sym typeface="Cairo"/>
              </a:rPr>
              <a:t>الذكاء الاصطناعي التوليدي ومقارنة النماذج</a:t>
            </a:r>
            <a:endParaRPr/>
          </a:p>
        </p:txBody>
      </p:sp>
      <p:sp>
        <p:nvSpPr>
          <p:cNvPr id="86" name="Google Shape;86;p13"/>
          <p:cNvSpPr txBox="1"/>
          <p:nvPr/>
        </p:nvSpPr>
        <p:spPr>
          <a:xfrm>
            <a:off x="1209675" y="3363217"/>
            <a:ext cx="977265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94A3B8"/>
                </a:solidFill>
                <a:latin typeface="Cairo"/>
                <a:ea typeface="Cairo"/>
                <a:cs typeface="Cairo"/>
                <a:sym typeface="Cairo"/>
              </a:rPr>
              <a:t>مقارنة شاملة بين العمالقة الثلاثة وتطبيقات هندسة الأوامر (Class 1 - 90 Min)</a:t>
            </a:r>
            <a:endParaRPr/>
          </a:p>
        </p:txBody>
      </p:sp>
      <p:sp>
        <p:nvSpPr>
          <p:cNvPr id="87" name="Google Shape;87;p13"/>
          <p:cNvSpPr txBox="1"/>
          <p:nvPr/>
        </p:nvSpPr>
        <p:spPr>
          <a:xfrm>
            <a:off x="1209675" y="4029967"/>
            <a:ext cx="977265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94A3B8"/>
                </a:solidFill>
                <a:latin typeface="Cairo"/>
                <a:ea typeface="Cairo"/>
                <a:cs typeface="Cairo"/>
                <a:sym typeface="Cairo"/>
              </a:rPr>
              <a:t>أجندة تعليمية متكاملة مستوحاة من محتوى المنهج الموضح في image_3a2bc8.png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3" name="Google Shape;93;p14"/>
          <p:cNvSpPr txBox="1"/>
          <p:nvPr/>
        </p:nvSpPr>
        <p:spPr>
          <a:xfrm>
            <a:off x="666750" y="3091904"/>
            <a:ext cx="10429800" cy="554100"/>
          </a:xfrm>
          <a:prstGeom prst="rect">
            <a:avLst/>
          </a:prstGeom>
          <a:noFill/>
          <a:ln>
            <a:noFill/>
          </a:ln>
        </p:spPr>
        <p:txBody>
          <a:bodyPr anchorCtr="0" anchor="t" bIns="0" lIns="238125" spcFirstLastPara="1" rIns="0" wrap="square" tIns="0">
            <a:spAutoFit/>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مقدمة في النماذج اللغوية الكبيرة (LLMs):</a:t>
            </a:r>
            <a:endParaRPr b="1" i="0" sz="1200" u="none" cap="none" strike="noStrike">
              <a:solidFill>
                <a:srgbClr val="0F172A"/>
              </a:solidFill>
              <a:latin typeface="Cairo"/>
              <a:ea typeface="Cairo"/>
              <a:cs typeface="Cairo"/>
              <a:sym typeface="Cairo"/>
            </a:endParaRPr>
          </a:p>
          <a:p>
            <a:pPr indent="0" lvl="0" marL="0" marR="0" rtl="0" algn="r">
              <a:spcBef>
                <a:spcPts val="0"/>
              </a:spcBef>
              <a:spcAft>
                <a:spcPts val="0"/>
              </a:spcAft>
              <a:buNone/>
            </a:pPr>
            <a:r>
              <a:rPr b="0" i="0" lang="en-US" sz="1200" u="none" cap="none" strike="noStrike">
                <a:solidFill>
                  <a:srgbClr val="475569"/>
                </a:solidFill>
                <a:latin typeface="Cairo"/>
                <a:ea typeface="Cairo"/>
                <a:cs typeface="Cairo"/>
                <a:sym typeface="Cairo"/>
              </a:rPr>
              <a:t> فهم عميق لآلية عملها وكيفية تنبؤها بالنصوص وتوليد الأنماط اللغوية المختلفة</a:t>
            </a:r>
            <a:endParaRPr b="0" i="0" sz="1200" u="none" cap="none" strike="noStrike">
              <a:solidFill>
                <a:srgbClr val="475569"/>
              </a:solidFill>
              <a:latin typeface="Cairo"/>
              <a:ea typeface="Cairo"/>
              <a:cs typeface="Cairo"/>
              <a:sym typeface="Cairo"/>
            </a:endParaRPr>
          </a:p>
          <a:p>
            <a:pPr indent="0" lvl="0" marL="0" marR="0" rtl="0" algn="r">
              <a:spcBef>
                <a:spcPts val="0"/>
              </a:spcBef>
              <a:spcAft>
                <a:spcPts val="0"/>
              </a:spcAft>
              <a:buNone/>
            </a:pPr>
            <a:r>
              <a:rPr b="0" i="0" lang="en-US" sz="1200" u="none" cap="none" strike="noStrike">
                <a:solidFill>
                  <a:srgbClr val="475569"/>
                </a:solidFill>
                <a:latin typeface="Cairo"/>
                <a:ea typeface="Cairo"/>
                <a:cs typeface="Cairo"/>
                <a:sym typeface="Cairo"/>
              </a:rPr>
              <a:t>.</a:t>
            </a:r>
            <a:endParaRPr/>
          </a:p>
        </p:txBody>
      </p:sp>
      <p:sp>
        <p:nvSpPr>
          <p:cNvPr id="94" name="Google Shape;94;p14"/>
          <p:cNvSpPr txBox="1"/>
          <p:nvPr/>
        </p:nvSpPr>
        <p:spPr>
          <a:xfrm>
            <a:off x="666750" y="3549104"/>
            <a:ext cx="10429800" cy="369300"/>
          </a:xfrm>
          <a:prstGeom prst="rect">
            <a:avLst/>
          </a:prstGeom>
          <a:noFill/>
          <a:ln>
            <a:noFill/>
          </a:ln>
        </p:spPr>
        <p:txBody>
          <a:bodyPr anchorCtr="0" anchor="t" bIns="0" lIns="190500" spcFirstLastPara="1" rIns="0" wrap="square" tIns="0">
            <a:spAutoFit/>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نافذة السياق ومخاطر الهلوسة البرمجية</a:t>
            </a:r>
            <a:endParaRPr b="1" i="0" sz="1200" u="none" cap="none" strike="noStrike">
              <a:solidFill>
                <a:srgbClr val="0F172A"/>
              </a:solidFill>
              <a:latin typeface="Cairo"/>
              <a:ea typeface="Cairo"/>
              <a:cs typeface="Cairo"/>
              <a:sym typeface="Cairo"/>
            </a:endParaRPr>
          </a:p>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a:t>
            </a:r>
            <a:r>
              <a:rPr b="0" i="0" lang="en-US" sz="1200" u="none" cap="none" strike="noStrike">
                <a:solidFill>
                  <a:srgbClr val="475569"/>
                </a:solidFill>
                <a:latin typeface="Cairo"/>
                <a:ea typeface="Cairo"/>
                <a:cs typeface="Cairo"/>
                <a:sym typeface="Cairo"/>
              </a:rPr>
              <a:t> التعرف على سعة الذاكرة اللحظية والحدود التقنية لتفادي توليد المعلومات الخاطئة.</a:t>
            </a:r>
            <a:endParaRPr/>
          </a:p>
        </p:txBody>
      </p:sp>
      <p:sp>
        <p:nvSpPr>
          <p:cNvPr id="95" name="Google Shape;95;p14"/>
          <p:cNvSpPr txBox="1"/>
          <p:nvPr/>
        </p:nvSpPr>
        <p:spPr>
          <a:xfrm>
            <a:off x="666750" y="4006304"/>
            <a:ext cx="10429800" cy="369300"/>
          </a:xfrm>
          <a:prstGeom prst="rect">
            <a:avLst/>
          </a:prstGeom>
          <a:noFill/>
          <a:ln>
            <a:noFill/>
          </a:ln>
        </p:spPr>
        <p:txBody>
          <a:bodyPr anchorCtr="0" anchor="t" bIns="0" lIns="190500" spcFirstLastPara="1" rIns="0" wrap="square" tIns="0">
            <a:spAutoFit/>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المقارنة الكبرى بين الثلاثي الأقوى</a:t>
            </a:r>
            <a:endParaRPr b="1" i="0" sz="1200" u="none" cap="none" strike="noStrike">
              <a:solidFill>
                <a:srgbClr val="0F172A"/>
              </a:solidFill>
              <a:latin typeface="Cairo"/>
              <a:ea typeface="Cairo"/>
              <a:cs typeface="Cairo"/>
              <a:sym typeface="Cairo"/>
            </a:endParaRPr>
          </a:p>
          <a:p>
            <a:pPr indent="0" lvl="0" marL="0" marR="0" rtl="0" algn="r">
              <a:spcBef>
                <a:spcPts val="0"/>
              </a:spcBef>
              <a:spcAft>
                <a:spcPts val="0"/>
              </a:spcAft>
              <a:buNone/>
            </a:pPr>
            <a:r>
              <a:rPr b="0" i="0" lang="en-US" sz="1200" u="none" cap="none" strike="noStrike">
                <a:solidFill>
                  <a:srgbClr val="475569"/>
                </a:solidFill>
                <a:latin typeface="Cairo"/>
                <a:ea typeface="Cairo"/>
                <a:cs typeface="Cairo"/>
                <a:sym typeface="Cairo"/>
              </a:rPr>
              <a:t> استكشاف الفروقات الجوهرية والخصائص المميزة لـ ChatGPT و Claude و Gemini.</a:t>
            </a:r>
            <a:endParaRPr/>
          </a:p>
        </p:txBody>
      </p:sp>
      <p:sp>
        <p:nvSpPr>
          <p:cNvPr id="96" name="Google Shape;96;p14"/>
          <p:cNvSpPr txBox="1"/>
          <p:nvPr/>
        </p:nvSpPr>
        <p:spPr>
          <a:xfrm>
            <a:off x="666750" y="4463504"/>
            <a:ext cx="10429800" cy="554100"/>
          </a:xfrm>
          <a:prstGeom prst="rect">
            <a:avLst/>
          </a:prstGeom>
          <a:noFill/>
          <a:ln>
            <a:noFill/>
          </a:ln>
        </p:spPr>
        <p:txBody>
          <a:bodyPr anchorCtr="0" anchor="t" bIns="0" lIns="219075" spcFirstLastPara="1" rIns="0" wrap="square" tIns="0">
            <a:spAutoFit/>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تقنيات هندسة الأوامر المتقدمة (Prompting):</a:t>
            </a:r>
            <a:endParaRPr b="1" i="0" sz="1200" u="none" cap="none" strike="noStrike">
              <a:solidFill>
                <a:srgbClr val="0F172A"/>
              </a:solidFill>
              <a:latin typeface="Cairo"/>
              <a:ea typeface="Cairo"/>
              <a:cs typeface="Cairo"/>
              <a:sym typeface="Cairo"/>
            </a:endParaRPr>
          </a:p>
          <a:p>
            <a:pPr indent="0" lvl="0" marL="0" marR="0" rtl="0" algn="r">
              <a:spcBef>
                <a:spcPts val="0"/>
              </a:spcBef>
              <a:spcAft>
                <a:spcPts val="0"/>
              </a:spcAft>
              <a:buNone/>
            </a:pPr>
            <a:r>
              <a:rPr b="0" i="0" lang="en-US" sz="1200" u="none" cap="none" strike="noStrike">
                <a:solidFill>
                  <a:srgbClr val="475569"/>
                </a:solidFill>
                <a:latin typeface="Cairo"/>
                <a:ea typeface="Cairo"/>
                <a:cs typeface="Cairo"/>
                <a:sym typeface="Cairo"/>
              </a:rPr>
              <a:t> دراسة تطبيقية لكتابة الأوامر الفعالة بالاعتماد على الدور والسياق وسلسلة التفكير</a:t>
            </a:r>
            <a:endParaRPr b="0" i="0" sz="1200" u="none" cap="none" strike="noStrike">
              <a:solidFill>
                <a:srgbClr val="475569"/>
              </a:solidFill>
              <a:latin typeface="Cairo"/>
              <a:ea typeface="Cairo"/>
              <a:cs typeface="Cairo"/>
              <a:sym typeface="Cairo"/>
            </a:endParaRPr>
          </a:p>
          <a:p>
            <a:pPr indent="0" lvl="0" marL="0" marR="0" rtl="0" algn="r">
              <a:spcBef>
                <a:spcPts val="0"/>
              </a:spcBef>
              <a:spcAft>
                <a:spcPts val="0"/>
              </a:spcAft>
              <a:buNone/>
            </a:pPr>
            <a:r>
              <a:rPr b="0" i="0" lang="en-US" sz="1200" u="none" cap="none" strike="noStrike">
                <a:solidFill>
                  <a:srgbClr val="475569"/>
                </a:solidFill>
                <a:latin typeface="Cairo"/>
                <a:ea typeface="Cairo"/>
                <a:cs typeface="Cairo"/>
                <a:sym typeface="Cairo"/>
              </a:rPr>
              <a:t>.</a:t>
            </a:r>
            <a:endParaRPr/>
          </a:p>
        </p:txBody>
      </p:sp>
      <p:pic>
        <p:nvPicPr>
          <p:cNvPr descr="image.png" id="97" name="Google Shape;97;p14"/>
          <p:cNvPicPr preferRelativeResize="0"/>
          <p:nvPr/>
        </p:nvPicPr>
        <p:blipFill rotWithShape="1">
          <a:blip r:embed="rId4">
            <a:alphaModFix/>
          </a:blip>
          <a:srcRect b="0" l="0" r="0" t="0"/>
          <a:stretch/>
        </p:blipFill>
        <p:spPr>
          <a:xfrm>
            <a:off x="11191875" y="3125241"/>
            <a:ext cx="238125" cy="200025"/>
          </a:xfrm>
          <a:prstGeom prst="rect">
            <a:avLst/>
          </a:prstGeom>
          <a:noFill/>
          <a:ln>
            <a:noFill/>
          </a:ln>
        </p:spPr>
      </p:pic>
      <p:pic>
        <p:nvPicPr>
          <p:cNvPr descr="image.png" id="98" name="Google Shape;98;p14"/>
          <p:cNvPicPr preferRelativeResize="0"/>
          <p:nvPr/>
        </p:nvPicPr>
        <p:blipFill rotWithShape="1">
          <a:blip r:embed="rId5">
            <a:alphaModFix/>
          </a:blip>
          <a:srcRect b="0" l="0" r="0" t="0"/>
          <a:stretch/>
        </p:blipFill>
        <p:spPr>
          <a:xfrm>
            <a:off x="11239500" y="3582441"/>
            <a:ext cx="190500" cy="200025"/>
          </a:xfrm>
          <a:prstGeom prst="rect">
            <a:avLst/>
          </a:prstGeom>
          <a:noFill/>
          <a:ln>
            <a:noFill/>
          </a:ln>
        </p:spPr>
      </p:pic>
      <p:pic>
        <p:nvPicPr>
          <p:cNvPr descr="image.png" id="99" name="Google Shape;99;p14"/>
          <p:cNvPicPr preferRelativeResize="0"/>
          <p:nvPr/>
        </p:nvPicPr>
        <p:blipFill rotWithShape="1">
          <a:blip r:embed="rId6">
            <a:alphaModFix/>
          </a:blip>
          <a:srcRect b="0" l="0" r="0" t="0"/>
          <a:stretch/>
        </p:blipFill>
        <p:spPr>
          <a:xfrm>
            <a:off x="11239500" y="4039641"/>
            <a:ext cx="190500" cy="200025"/>
          </a:xfrm>
          <a:prstGeom prst="rect">
            <a:avLst/>
          </a:prstGeom>
          <a:noFill/>
          <a:ln>
            <a:noFill/>
          </a:ln>
        </p:spPr>
      </p:pic>
      <p:pic>
        <p:nvPicPr>
          <p:cNvPr descr="image.png" id="100" name="Google Shape;100;p14"/>
          <p:cNvPicPr preferRelativeResize="0"/>
          <p:nvPr/>
        </p:nvPicPr>
        <p:blipFill rotWithShape="1">
          <a:blip r:embed="rId7">
            <a:alphaModFix/>
          </a:blip>
          <a:srcRect b="0" l="0" r="0" t="0"/>
          <a:stretch/>
        </p:blipFill>
        <p:spPr>
          <a:xfrm>
            <a:off x="11210925" y="4496841"/>
            <a:ext cx="219075" cy="200025"/>
          </a:xfrm>
          <a:prstGeom prst="rect">
            <a:avLst/>
          </a:prstGeom>
          <a:noFill/>
          <a:ln>
            <a:noFill/>
          </a:ln>
        </p:spPr>
      </p:pic>
      <p:sp>
        <p:nvSpPr>
          <p:cNvPr id="101" name="Google Shape;101;p14"/>
          <p:cNvSpPr txBox="1"/>
          <p:nvPr/>
        </p:nvSpPr>
        <p:spPr>
          <a:xfrm>
            <a:off x="130968" y="745033"/>
            <a:ext cx="11251406" cy="6000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550" u="none" cap="none" strike="noStrike">
                <a:solidFill>
                  <a:srgbClr val="0F172A"/>
                </a:solidFill>
                <a:latin typeface="Cairo"/>
                <a:ea typeface="Cairo"/>
                <a:cs typeface="Cairo"/>
                <a:sym typeface="Cairo"/>
              </a:rPr>
              <a:t>جدول أعمال المحاضرة والمحاور الدراسية</a:t>
            </a:r>
            <a:endParaRPr/>
          </a:p>
        </p:txBody>
      </p:sp>
      <p:sp>
        <p:nvSpPr>
          <p:cNvPr id="102" name="Google Shape;102;p14"/>
          <p:cNvSpPr/>
          <p:nvPr/>
        </p:nvSpPr>
        <p:spPr>
          <a:xfrm>
            <a:off x="11477625" y="745033"/>
            <a:ext cx="47625"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pic>
        <p:nvPicPr>
          <p:cNvPr descr="image.png" id="107" name="Google Shape;107;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8" name="Google Shape;108;p15"/>
          <p:cNvPicPr preferRelativeResize="0"/>
          <p:nvPr/>
        </p:nvPicPr>
        <p:blipFill rotWithShape="1">
          <a:blip r:embed="rId4">
            <a:alphaModFix/>
          </a:blip>
          <a:srcRect b="0" l="0" r="0" t="0"/>
          <a:stretch/>
        </p:blipFill>
        <p:spPr>
          <a:xfrm>
            <a:off x="6286500" y="2996654"/>
            <a:ext cx="5238750" cy="2019300"/>
          </a:xfrm>
          <a:prstGeom prst="rect">
            <a:avLst/>
          </a:prstGeom>
          <a:noFill/>
          <a:ln>
            <a:noFill/>
          </a:ln>
        </p:spPr>
      </p:pic>
      <p:pic>
        <p:nvPicPr>
          <p:cNvPr descr="image.png" id="109" name="Google Shape;109;p15"/>
          <p:cNvPicPr preferRelativeResize="0"/>
          <p:nvPr/>
        </p:nvPicPr>
        <p:blipFill rotWithShape="1">
          <a:blip r:embed="rId5">
            <a:alphaModFix/>
          </a:blip>
          <a:srcRect b="0" l="0" r="0" t="0"/>
          <a:stretch/>
        </p:blipFill>
        <p:spPr>
          <a:xfrm>
            <a:off x="666750" y="2996654"/>
            <a:ext cx="5238750" cy="2019300"/>
          </a:xfrm>
          <a:prstGeom prst="rect">
            <a:avLst/>
          </a:prstGeom>
          <a:noFill/>
          <a:ln>
            <a:noFill/>
          </a:ln>
        </p:spPr>
      </p:pic>
      <p:sp>
        <p:nvSpPr>
          <p:cNvPr id="110" name="Google Shape;110;p15"/>
          <p:cNvSpPr txBox="1"/>
          <p:nvPr/>
        </p:nvSpPr>
        <p:spPr>
          <a:xfrm>
            <a:off x="6296977" y="3453854"/>
            <a:ext cx="4980600" cy="507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650" u="none" cap="none" strike="noStrike">
                <a:solidFill>
                  <a:srgbClr val="2563EB"/>
                </a:solidFill>
                <a:latin typeface="Cairo SemiBold"/>
                <a:ea typeface="Cairo SemiBold"/>
                <a:cs typeface="Cairo SemiBold"/>
                <a:sym typeface="Cairo SemiBold"/>
              </a:rPr>
              <a:t>مفهوم النموذج وآلية التنبؤ  </a:t>
            </a:r>
            <a:endParaRPr b="0" i="0" sz="1650" u="none" cap="none" strike="noStrike">
              <a:solidFill>
                <a:srgbClr val="2563EB"/>
              </a:solidFill>
              <a:latin typeface="Cairo SemiBold"/>
              <a:ea typeface="Cairo SemiBold"/>
              <a:cs typeface="Cairo SemiBold"/>
              <a:sym typeface="Cairo SemiBold"/>
            </a:endParaRPr>
          </a:p>
          <a:p>
            <a:pPr indent="0" lvl="0" marL="0" marR="0" rtl="0" algn="r">
              <a:spcBef>
                <a:spcPts val="0"/>
              </a:spcBef>
              <a:spcAft>
                <a:spcPts val="0"/>
              </a:spcAft>
              <a:buNone/>
            </a:pPr>
            <a:r>
              <a:rPr lang="en-US" sz="1650">
                <a:solidFill>
                  <a:srgbClr val="2563EB"/>
                </a:solidFill>
                <a:latin typeface="Cairo SemiBold"/>
                <a:ea typeface="Cairo SemiBold"/>
                <a:cs typeface="Cairo SemiBold"/>
                <a:sym typeface="Cairo SemiBold"/>
              </a:rPr>
              <a:t>LLMs</a:t>
            </a:r>
            <a:endParaRPr sz="1650">
              <a:solidFill>
                <a:srgbClr val="2563EB"/>
              </a:solidFill>
              <a:latin typeface="Cairo SemiBold"/>
              <a:ea typeface="Cairo SemiBold"/>
              <a:cs typeface="Cairo SemiBold"/>
              <a:sym typeface="Cairo SemiBold"/>
            </a:endParaRPr>
          </a:p>
        </p:txBody>
      </p:sp>
      <p:sp>
        <p:nvSpPr>
          <p:cNvPr id="111" name="Google Shape;111;p15"/>
          <p:cNvSpPr txBox="1"/>
          <p:nvPr/>
        </p:nvSpPr>
        <p:spPr>
          <a:xfrm>
            <a:off x="6534150" y="3968204"/>
            <a:ext cx="4743600" cy="4617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تعمل نماذج الـ </a:t>
            </a:r>
            <a:r>
              <a:rPr lang="en-US" sz="1200">
                <a:solidFill>
                  <a:srgbClr val="475569"/>
                </a:solidFill>
                <a:latin typeface="Cairo"/>
                <a:ea typeface="Cairo"/>
                <a:cs typeface="Cairo"/>
                <a:sym typeface="Cairo"/>
              </a:rPr>
              <a:t> </a:t>
            </a:r>
            <a:r>
              <a:rPr b="0" i="0" lang="en-US" sz="1200" u="none" cap="none" strike="noStrike">
                <a:solidFill>
                  <a:srgbClr val="475569"/>
                </a:solidFill>
                <a:latin typeface="Cairo"/>
                <a:ea typeface="Cairo"/>
                <a:cs typeface="Cairo"/>
                <a:sym typeface="Cairo"/>
              </a:rPr>
              <a:t> </a:t>
            </a:r>
            <a:r>
              <a:rPr b="0" i="0" lang="en-US" sz="1200" u="none" cap="none" strike="noStrike">
                <a:solidFill>
                  <a:srgbClr val="475569"/>
                </a:solidFill>
                <a:latin typeface="Cairo"/>
                <a:ea typeface="Cairo"/>
                <a:cs typeface="Cairo"/>
                <a:sym typeface="Cairo"/>
              </a:rPr>
              <a:t>كأنظمة إحصائية عملاقة تقوم بتحليل الجمل السابقة</a:t>
            </a:r>
            <a:endParaRPr b="0" i="0" sz="1200" u="none" cap="none" strike="noStrike">
              <a:solidFill>
                <a:srgbClr val="475569"/>
              </a:solidFill>
              <a:latin typeface="Cairo"/>
              <a:ea typeface="Cairo"/>
              <a:cs typeface="Cairo"/>
              <a:sym typeface="Cairo"/>
            </a:endParaRPr>
          </a:p>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 للتنبؤ بالكلمة الأكثر احتمالاً للظهور بعد ذلك بناءً على سياق المحادثة الحالي.</a:t>
            </a:r>
            <a:endParaRPr/>
          </a:p>
        </p:txBody>
      </p:sp>
      <p:sp>
        <p:nvSpPr>
          <p:cNvPr id="112" name="Google Shape;112;p15"/>
          <p:cNvSpPr txBox="1"/>
          <p:nvPr/>
        </p:nvSpPr>
        <p:spPr>
          <a:xfrm>
            <a:off x="677227" y="3453854"/>
            <a:ext cx="4980622" cy="4000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650" u="none" cap="none" strike="noStrike">
                <a:solidFill>
                  <a:srgbClr val="2563EB"/>
                </a:solidFill>
                <a:latin typeface="Cairo SemiBold"/>
                <a:ea typeface="Cairo SemiBold"/>
                <a:cs typeface="Cairo SemiBold"/>
                <a:sym typeface="Cairo SemiBold"/>
              </a:rPr>
              <a:t>مصادر التدريب وبناء الأنماط</a:t>
            </a:r>
            <a:endParaRPr/>
          </a:p>
        </p:txBody>
      </p:sp>
      <p:sp>
        <p:nvSpPr>
          <p:cNvPr id="113" name="Google Shape;113;p15"/>
          <p:cNvSpPr txBox="1"/>
          <p:nvPr/>
        </p:nvSpPr>
        <p:spPr>
          <a:xfrm>
            <a:off x="914400" y="3968204"/>
            <a:ext cx="4743450" cy="6858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تتدرب هذه النماذج على كميات مهولة من النصوص المكتوبة بلغات متعددة، وتكتشف العلاقات الرياضية بين الكلمات مما يسمح لها بصياغة مخرجات منسقة ومنطقية.</a:t>
            </a:r>
            <a:endParaRPr/>
          </a:p>
        </p:txBody>
      </p:sp>
      <p:sp>
        <p:nvSpPr>
          <p:cNvPr id="114" name="Google Shape;114;p15"/>
          <p:cNvSpPr txBox="1"/>
          <p:nvPr/>
        </p:nvSpPr>
        <p:spPr>
          <a:xfrm>
            <a:off x="130968" y="745033"/>
            <a:ext cx="11251406" cy="6000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550" u="none" cap="none" strike="noStrike">
                <a:solidFill>
                  <a:srgbClr val="0F172A"/>
                </a:solidFill>
                <a:latin typeface="Cairo"/>
                <a:ea typeface="Cairo"/>
                <a:cs typeface="Cairo"/>
                <a:sym typeface="Cairo"/>
              </a:rPr>
              <a:t>ما هي النماذج اللغوية الكبيرة؟ (LLMs)</a:t>
            </a:r>
            <a:endParaRPr/>
          </a:p>
        </p:txBody>
      </p:sp>
      <p:sp>
        <p:nvSpPr>
          <p:cNvPr id="115" name="Google Shape;115;p15"/>
          <p:cNvSpPr/>
          <p:nvPr/>
        </p:nvSpPr>
        <p:spPr>
          <a:xfrm>
            <a:off x="11477625" y="745033"/>
            <a:ext cx="47625"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6" name="Google Shape;116;p15"/>
          <p:cNvPicPr preferRelativeResize="0"/>
          <p:nvPr/>
        </p:nvPicPr>
        <p:blipFill>
          <a:blip r:embed="rId6">
            <a:alphaModFix/>
          </a:blip>
          <a:stretch>
            <a:fillRect/>
          </a:stretch>
        </p:blipFill>
        <p:spPr>
          <a:xfrm>
            <a:off x="525600" y="306098"/>
            <a:ext cx="5238750" cy="26510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pic>
        <p:nvPicPr>
          <p:cNvPr descr="image.png" id="121" name="Google Shape;121;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2" name="Google Shape;122;p16"/>
          <p:cNvSpPr txBox="1"/>
          <p:nvPr/>
        </p:nvSpPr>
        <p:spPr>
          <a:xfrm>
            <a:off x="6286500" y="3306225"/>
            <a:ext cx="5787600" cy="1269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250" u="none" cap="none" strike="noStrike">
                <a:solidFill>
                  <a:srgbClr val="2563EB"/>
                </a:solidFill>
                <a:latin typeface="Poppins"/>
                <a:ea typeface="Poppins"/>
                <a:cs typeface="Poppins"/>
                <a:sym typeface="Poppins"/>
              </a:rPr>
              <a:t>2M+ </a:t>
            </a:r>
            <a:r>
              <a:rPr b="1" lang="en-US" sz="4550">
                <a:solidFill>
                  <a:srgbClr val="2563EB"/>
                </a:solidFill>
                <a:latin typeface="Poppins"/>
                <a:ea typeface="Poppins"/>
                <a:cs typeface="Poppins"/>
                <a:sym typeface="Poppins"/>
              </a:rPr>
              <a:t>T</a:t>
            </a:r>
            <a:r>
              <a:rPr b="1" i="0" lang="en-US" sz="4550" u="none" cap="none" strike="noStrike">
                <a:solidFill>
                  <a:srgbClr val="2563EB"/>
                </a:solidFill>
                <a:latin typeface="Poppins"/>
                <a:ea typeface="Poppins"/>
                <a:cs typeface="Poppins"/>
                <a:sym typeface="Poppins"/>
              </a:rPr>
              <a:t>okens</a:t>
            </a:r>
            <a:endParaRPr sz="100"/>
          </a:p>
        </p:txBody>
      </p:sp>
      <p:sp>
        <p:nvSpPr>
          <p:cNvPr id="123" name="Google Shape;123;p16"/>
          <p:cNvSpPr txBox="1"/>
          <p:nvPr/>
        </p:nvSpPr>
        <p:spPr>
          <a:xfrm>
            <a:off x="6286500" y="4353966"/>
            <a:ext cx="5238750" cy="3524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Cairo"/>
                <a:ea typeface="Cairo"/>
                <a:cs typeface="Cairo"/>
                <a:sym typeface="Cairo"/>
              </a:rPr>
              <a:t>أقصى سعة سياق بالرموز لـ Gemini 3.1 Pro</a:t>
            </a:r>
            <a:endParaRPr/>
          </a:p>
        </p:txBody>
      </p:sp>
      <p:sp>
        <p:nvSpPr>
          <p:cNvPr id="124" name="Google Shape;124;p16"/>
          <p:cNvSpPr txBox="1"/>
          <p:nvPr/>
        </p:nvSpPr>
        <p:spPr>
          <a:xfrm>
            <a:off x="666750" y="3282404"/>
            <a:ext cx="5500800" cy="254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650" u="none" cap="none" strike="noStrike">
                <a:solidFill>
                  <a:srgbClr val="1E293B"/>
                </a:solidFill>
                <a:latin typeface="Cairo SemiBold"/>
                <a:ea typeface="Cairo SemiBold"/>
                <a:cs typeface="Cairo SemiBold"/>
                <a:sym typeface="Cairo SemiBold"/>
              </a:rPr>
              <a:t>مفاهيم تقنية أساسية</a:t>
            </a:r>
            <a:endParaRPr/>
          </a:p>
        </p:txBody>
      </p:sp>
      <p:sp>
        <p:nvSpPr>
          <p:cNvPr id="125" name="Google Shape;125;p16"/>
          <p:cNvSpPr txBox="1"/>
          <p:nvPr/>
        </p:nvSpPr>
        <p:spPr>
          <a:xfrm>
            <a:off x="666750" y="3796754"/>
            <a:ext cx="5238900" cy="738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0"/>
              </a:spcBef>
              <a:spcAft>
                <a:spcPts val="0"/>
              </a:spcAft>
              <a:buNone/>
            </a:pPr>
            <a:r>
              <a:rPr b="1" i="0" lang="en-US" sz="1200" u="none" cap="none" strike="noStrike">
                <a:solidFill>
                  <a:srgbClr val="475569"/>
                </a:solidFill>
                <a:latin typeface="Cairo"/>
                <a:ea typeface="Cairo"/>
                <a:cs typeface="Cairo"/>
                <a:sym typeface="Cairo"/>
              </a:rPr>
              <a:t>نافذة السياق (Context Window):</a:t>
            </a:r>
            <a:r>
              <a:rPr b="0" i="0" lang="en-US" sz="1200" u="none" cap="none" strike="noStrike">
                <a:solidFill>
                  <a:srgbClr val="475569"/>
                </a:solidFill>
                <a:latin typeface="Cairo"/>
                <a:ea typeface="Cairo"/>
                <a:cs typeface="Cairo"/>
                <a:sym typeface="Cairo"/>
              </a:rPr>
              <a:t> </a:t>
            </a:r>
            <a:endParaRPr b="0" i="0" sz="1200" u="none" cap="none" strike="noStrike">
              <a:solidFill>
                <a:srgbClr val="475569"/>
              </a:solidFill>
              <a:latin typeface="Cairo"/>
              <a:ea typeface="Cairo"/>
              <a:cs typeface="Cairo"/>
              <a:sym typeface="Cairo"/>
            </a:endParaRPr>
          </a:p>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تعبر عن كمية البيانات (مستندات، أكواد، كتب) التي يستطيع النموذج قراءتها وتذكرها في محادثة واحدة دفعة واحدة.</a:t>
            </a:r>
            <a:endParaRPr/>
          </a:p>
        </p:txBody>
      </p:sp>
      <p:sp>
        <p:nvSpPr>
          <p:cNvPr id="126" name="Google Shape;126;p16"/>
          <p:cNvSpPr txBox="1"/>
          <p:nvPr/>
        </p:nvSpPr>
        <p:spPr>
          <a:xfrm>
            <a:off x="666750" y="4706404"/>
            <a:ext cx="5238900" cy="738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0"/>
              </a:spcBef>
              <a:spcAft>
                <a:spcPts val="0"/>
              </a:spcAft>
              <a:buNone/>
            </a:pPr>
            <a:r>
              <a:rPr b="1" i="0" lang="en-US" sz="1200" u="none" cap="none" strike="noStrike">
                <a:solidFill>
                  <a:srgbClr val="475569"/>
                </a:solidFill>
                <a:latin typeface="Cairo"/>
                <a:ea typeface="Cairo"/>
                <a:cs typeface="Cairo"/>
                <a:sym typeface="Cairo"/>
              </a:rPr>
              <a:t>الهلوسة (Hallucination):</a:t>
            </a:r>
            <a:endParaRPr b="1" i="0" sz="1200" u="none" cap="none" strike="noStrike">
              <a:solidFill>
                <a:srgbClr val="475569"/>
              </a:solidFill>
              <a:latin typeface="Cairo"/>
              <a:ea typeface="Cairo"/>
              <a:cs typeface="Cairo"/>
              <a:sym typeface="Cairo"/>
            </a:endParaRPr>
          </a:p>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 تحدث عندما يقوم النموذج باختلاق إجابات كاذبة أو مضللة</a:t>
            </a:r>
            <a:endParaRPr b="0" i="0" sz="1200" u="none" cap="none" strike="noStrike">
              <a:solidFill>
                <a:srgbClr val="475569"/>
              </a:solidFill>
              <a:latin typeface="Cairo"/>
              <a:ea typeface="Cairo"/>
              <a:cs typeface="Cairo"/>
              <a:sym typeface="Cairo"/>
            </a:endParaRPr>
          </a:p>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 بثقة عالية نتيجة نقص البيانات أو صياغة الأوامر بطرق غير واضحة.</a:t>
            </a:r>
            <a:endParaRPr/>
          </a:p>
        </p:txBody>
      </p:sp>
      <p:sp>
        <p:nvSpPr>
          <p:cNvPr id="127" name="Google Shape;127;p16"/>
          <p:cNvSpPr txBox="1"/>
          <p:nvPr/>
        </p:nvSpPr>
        <p:spPr>
          <a:xfrm>
            <a:off x="130968" y="745033"/>
            <a:ext cx="11251406" cy="6000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550" u="none" cap="none" strike="noStrike">
                <a:solidFill>
                  <a:srgbClr val="0F172A"/>
                </a:solidFill>
                <a:latin typeface="Cairo"/>
                <a:ea typeface="Cairo"/>
                <a:cs typeface="Cairo"/>
                <a:sym typeface="Cairo"/>
              </a:rPr>
              <a:t>الذاكرة اللحظية ومخاطر توليد المعلومات</a:t>
            </a:r>
            <a:endParaRPr/>
          </a:p>
        </p:txBody>
      </p:sp>
      <p:sp>
        <p:nvSpPr>
          <p:cNvPr id="128" name="Google Shape;128;p16"/>
          <p:cNvSpPr/>
          <p:nvPr/>
        </p:nvSpPr>
        <p:spPr>
          <a:xfrm>
            <a:off x="11477625" y="745033"/>
            <a:ext cx="47625"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9"/>
        </a:solidFill>
      </p:bgPr>
    </p:bg>
    <p:spTree>
      <p:nvGrpSpPr>
        <p:cNvPr id="132" name="Shape 132"/>
        <p:cNvGrpSpPr/>
        <p:nvPr/>
      </p:nvGrpSpPr>
      <p:grpSpPr>
        <a:xfrm>
          <a:off x="0" y="0"/>
          <a:ext cx="0" cy="0"/>
          <a:chOff x="0" y="0"/>
          <a:chExt cx="0" cy="0"/>
        </a:xfrm>
      </p:grpSpPr>
      <p:pic>
        <p:nvPicPr>
          <p:cNvPr descr="image.png" id="133" name="Google Shape;133;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4" name="Google Shape;134;p17"/>
          <p:cNvSpPr/>
          <p:nvPr/>
        </p:nvSpPr>
        <p:spPr>
          <a:xfrm>
            <a:off x="5715000" y="2667744"/>
            <a:ext cx="762000" cy="4762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7"/>
          <p:cNvSpPr txBox="1"/>
          <p:nvPr/>
        </p:nvSpPr>
        <p:spPr>
          <a:xfrm>
            <a:off x="2705576" y="3094732"/>
            <a:ext cx="6780847" cy="8572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F1F5F9"/>
                </a:solidFill>
                <a:latin typeface="Cairo"/>
                <a:ea typeface="Cairo"/>
                <a:cs typeface="Cairo"/>
                <a:sym typeface="Cairo"/>
              </a:rPr>
              <a:t>المقارنة الكبرى: العمالقة الثلاثة</a:t>
            </a:r>
            <a:endParaRPr/>
          </a:p>
        </p:txBody>
      </p:sp>
      <p:sp>
        <p:nvSpPr>
          <p:cNvPr id="136" name="Google Shape;136;p17"/>
          <p:cNvSpPr txBox="1"/>
          <p:nvPr/>
        </p:nvSpPr>
        <p:spPr>
          <a:xfrm>
            <a:off x="2867025" y="4094857"/>
            <a:ext cx="645795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94A3B8"/>
                </a:solidFill>
                <a:latin typeface="Cairo"/>
                <a:ea typeface="Cairo"/>
                <a:cs typeface="Cairo"/>
                <a:sym typeface="Cairo"/>
              </a:rPr>
              <a:t>التحليل الفني والعملي للفروقات الجوهرية وطرق توظيفها</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8"/>
          <p:cNvPicPr preferRelativeResize="0"/>
          <p:nvPr/>
        </p:nvPicPr>
        <p:blipFill>
          <a:blip r:embed="rId3">
            <a:alphaModFix/>
          </a:blip>
          <a:stretch>
            <a:fillRect/>
          </a:stretch>
        </p:blipFill>
        <p:spPr>
          <a:xfrm>
            <a:off x="225150" y="2437788"/>
            <a:ext cx="11887201" cy="22941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pic>
        <p:nvPicPr>
          <p:cNvPr descr="image.png" id="146" name="Google Shape;146;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7" name="Google Shape;147;p19"/>
          <p:cNvSpPr txBox="1"/>
          <p:nvPr/>
        </p:nvSpPr>
        <p:spPr>
          <a:xfrm>
            <a:off x="6426993" y="154483"/>
            <a:ext cx="5050500" cy="785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550" u="none" cap="none" strike="noStrike">
                <a:solidFill>
                  <a:srgbClr val="0F172A"/>
                </a:solidFill>
                <a:latin typeface="Cairo"/>
                <a:ea typeface="Cairo"/>
                <a:cs typeface="Cairo"/>
                <a:sym typeface="Cairo"/>
              </a:rPr>
              <a:t>فلسفة التصميم والشركات المطورة</a:t>
            </a:r>
            <a:endParaRPr/>
          </a:p>
        </p:txBody>
      </p:sp>
      <p:sp>
        <p:nvSpPr>
          <p:cNvPr id="148" name="Google Shape;148;p19"/>
          <p:cNvSpPr/>
          <p:nvPr/>
        </p:nvSpPr>
        <p:spPr>
          <a:xfrm>
            <a:off x="11531325" y="102533"/>
            <a:ext cx="47700" cy="12003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9"/>
          <p:cNvSpPr txBox="1"/>
          <p:nvPr/>
        </p:nvSpPr>
        <p:spPr>
          <a:xfrm>
            <a:off x="5569525" y="1592350"/>
            <a:ext cx="6276300" cy="13059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b="1" lang="en-US">
                <a:solidFill>
                  <a:schemeClr val="dk1"/>
                </a:solidFill>
              </a:rPr>
              <a:t>ChatGPT (OpenAI)</a:t>
            </a:r>
            <a:endParaRPr b="1">
              <a:solidFill>
                <a:schemeClr val="dk1"/>
              </a:solidFill>
            </a:endParaRPr>
          </a:p>
          <a:p>
            <a:pPr indent="-304800" lvl="0" marL="457200" rtl="0" algn="r">
              <a:lnSpc>
                <a:spcPct val="115000"/>
              </a:lnSpc>
              <a:spcBef>
                <a:spcPts val="400"/>
              </a:spcBef>
              <a:spcAft>
                <a:spcPts val="0"/>
              </a:spcAft>
              <a:buClr>
                <a:schemeClr val="dk1"/>
              </a:buClr>
              <a:buSzPts val="1200"/>
              <a:buChar char="●"/>
            </a:pPr>
            <a:r>
              <a:rPr b="1" lang="en-US" sz="1200">
                <a:solidFill>
                  <a:schemeClr val="dk1"/>
                </a:solidFill>
              </a:rPr>
              <a:t>السرعة والانتشار:</a:t>
            </a:r>
            <a:r>
              <a:rPr lang="en-US" sz="1200">
                <a:solidFill>
                  <a:schemeClr val="dk1"/>
                </a:solidFill>
              </a:rPr>
              <a:t> يركز على الكفاءة العالية، والسرعة، والحلول الذكية العامة للمستخدمين والمطورين.</a:t>
            </a:r>
            <a:endParaRPr sz="1200">
              <a:solidFill>
                <a:schemeClr val="dk1"/>
              </a:solidFill>
            </a:endParaRPr>
          </a:p>
          <a:p>
            <a:pPr indent="-304800" lvl="0" marL="457200" rtl="0" algn="r">
              <a:lnSpc>
                <a:spcPct val="115000"/>
              </a:lnSpc>
              <a:spcBef>
                <a:spcPts val="0"/>
              </a:spcBef>
              <a:spcAft>
                <a:spcPts val="0"/>
              </a:spcAft>
              <a:buClr>
                <a:schemeClr val="dk1"/>
              </a:buClr>
              <a:buSzPts val="1200"/>
              <a:buChar char="●"/>
            </a:pPr>
            <a:r>
              <a:rPr b="1" lang="en-US" sz="1200">
                <a:solidFill>
                  <a:schemeClr val="dk1"/>
                </a:solidFill>
              </a:rPr>
              <a:t>البيئة البرمجية:</a:t>
            </a:r>
            <a:r>
              <a:rPr lang="en-US" sz="1200">
                <a:solidFill>
                  <a:schemeClr val="dk1"/>
                </a:solidFill>
              </a:rPr>
              <a:t> نظام متكامل وقوي يدعم الأدوات المساعدة المتقدمة، وإمكانية تخصيص الـ</a:t>
            </a:r>
            <a:r>
              <a:rPr lang="en-US" sz="1200">
                <a:solidFill>
                  <a:schemeClr val="dk1"/>
                </a:solidFill>
              </a:rPr>
              <a:t> </a:t>
            </a:r>
            <a:endParaRPr sz="1200">
              <a:solidFill>
                <a:schemeClr val="dk1"/>
              </a:solidFill>
            </a:endParaRPr>
          </a:p>
          <a:p>
            <a:pPr indent="-304800" lvl="0" marL="457200" rtl="0" algn="r">
              <a:lnSpc>
                <a:spcPct val="115000"/>
              </a:lnSpc>
              <a:spcBef>
                <a:spcPts val="0"/>
              </a:spcBef>
              <a:spcAft>
                <a:spcPts val="0"/>
              </a:spcAft>
              <a:buClr>
                <a:schemeClr val="dk1"/>
              </a:buClr>
              <a:buSzPts val="1200"/>
              <a:buChar char="●"/>
            </a:pPr>
            <a:r>
              <a:rPr lang="en-US" sz="1200">
                <a:solidFill>
                  <a:schemeClr val="dk1"/>
                </a:solidFill>
              </a:rPr>
              <a:t>(GPTs).</a:t>
            </a:r>
            <a:endParaRPr sz="1200">
              <a:solidFill>
                <a:schemeClr val="dk1"/>
              </a:solidFill>
            </a:endParaRPr>
          </a:p>
          <a:p>
            <a:pPr indent="-304800" lvl="0" marL="457200" rtl="0" algn="r">
              <a:lnSpc>
                <a:spcPct val="115000"/>
              </a:lnSpc>
              <a:spcBef>
                <a:spcPts val="0"/>
              </a:spcBef>
              <a:spcAft>
                <a:spcPts val="0"/>
              </a:spcAft>
              <a:buClr>
                <a:schemeClr val="dk1"/>
              </a:buClr>
              <a:buSzPts val="1200"/>
              <a:buChar char="●"/>
            </a:pPr>
            <a:r>
              <a:rPr b="1" lang="en-US" sz="1200">
                <a:solidFill>
                  <a:schemeClr val="dk1"/>
                </a:solidFill>
              </a:rPr>
              <a:t>التفاعل اللحظي:</a:t>
            </a:r>
            <a:r>
              <a:rPr lang="en-US" sz="1200">
                <a:solidFill>
                  <a:schemeClr val="dk1"/>
                </a:solidFill>
              </a:rPr>
              <a:t> رائد في معالجة الصوت والنصوص بشكل فوري ومعالجة البيانات المتعددة.</a:t>
            </a:r>
            <a:endParaRPr sz="1200">
              <a:solidFill>
                <a:schemeClr val="dk1"/>
              </a:solidFill>
            </a:endParaRPr>
          </a:p>
        </p:txBody>
      </p:sp>
      <p:sp>
        <p:nvSpPr>
          <p:cNvPr id="150" name="Google Shape;150;p19"/>
          <p:cNvSpPr txBox="1"/>
          <p:nvPr/>
        </p:nvSpPr>
        <p:spPr>
          <a:xfrm>
            <a:off x="5715000" y="3323050"/>
            <a:ext cx="6102600" cy="10932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b="1" lang="en-US">
                <a:solidFill>
                  <a:schemeClr val="dk1"/>
                </a:solidFill>
              </a:rPr>
              <a:t>Claude (Anthropic)</a:t>
            </a:r>
            <a:endParaRPr b="1">
              <a:solidFill>
                <a:schemeClr val="dk1"/>
              </a:solidFill>
            </a:endParaRPr>
          </a:p>
          <a:p>
            <a:pPr indent="-304800" lvl="0" marL="457200" rtl="0" algn="r">
              <a:lnSpc>
                <a:spcPct val="115000"/>
              </a:lnSpc>
              <a:spcBef>
                <a:spcPts val="400"/>
              </a:spcBef>
              <a:spcAft>
                <a:spcPts val="0"/>
              </a:spcAft>
              <a:buClr>
                <a:schemeClr val="dk1"/>
              </a:buClr>
              <a:buSzPts val="1200"/>
              <a:buChar char="●"/>
            </a:pPr>
            <a:r>
              <a:rPr b="1" lang="en-US" sz="1200">
                <a:solidFill>
                  <a:schemeClr val="dk1"/>
                </a:solidFill>
              </a:rPr>
              <a:t>الأمان والدقة:</a:t>
            </a:r>
            <a:r>
              <a:rPr lang="en-US" sz="1200">
                <a:solidFill>
                  <a:schemeClr val="dk1"/>
                </a:solidFill>
              </a:rPr>
              <a:t> يعتمد على "الذكاء الاصطناعي الدستوري" لضمان مخرجات آمنة، أخلاقية، وحذرة.</a:t>
            </a:r>
            <a:endParaRPr sz="1200">
              <a:solidFill>
                <a:schemeClr val="dk1"/>
              </a:solidFill>
            </a:endParaRPr>
          </a:p>
          <a:p>
            <a:pPr indent="-304800" lvl="0" marL="457200" rtl="0" algn="r">
              <a:lnSpc>
                <a:spcPct val="115000"/>
              </a:lnSpc>
              <a:spcBef>
                <a:spcPts val="0"/>
              </a:spcBef>
              <a:spcAft>
                <a:spcPts val="0"/>
              </a:spcAft>
              <a:buClr>
                <a:schemeClr val="dk1"/>
              </a:buClr>
              <a:buSzPts val="1200"/>
              <a:buChar char="●"/>
            </a:pPr>
            <a:r>
              <a:rPr b="1" lang="en-US" sz="1200">
                <a:solidFill>
                  <a:schemeClr val="dk1"/>
                </a:solidFill>
              </a:rPr>
              <a:t>المنطق المعقد:</a:t>
            </a:r>
            <a:r>
              <a:rPr lang="en-US" sz="1200">
                <a:solidFill>
                  <a:schemeClr val="dk1"/>
                </a:solidFill>
              </a:rPr>
              <a:t> يتفوق بشكل ملحوظ في كتابة الأكواد البرمجية، التحليل المالي، والقانوني.</a:t>
            </a:r>
            <a:endParaRPr sz="1200">
              <a:solidFill>
                <a:schemeClr val="dk1"/>
              </a:solidFill>
            </a:endParaRPr>
          </a:p>
          <a:p>
            <a:pPr indent="-304800" lvl="0" marL="457200" rtl="0" algn="r">
              <a:lnSpc>
                <a:spcPct val="115000"/>
              </a:lnSpc>
              <a:spcBef>
                <a:spcPts val="0"/>
              </a:spcBef>
              <a:spcAft>
                <a:spcPts val="0"/>
              </a:spcAft>
              <a:buClr>
                <a:schemeClr val="dk1"/>
              </a:buClr>
              <a:buSzPts val="1200"/>
              <a:buChar char="●"/>
            </a:pPr>
            <a:r>
              <a:rPr b="1" lang="en-US" sz="1200">
                <a:solidFill>
                  <a:schemeClr val="dk1"/>
                </a:solidFill>
              </a:rPr>
              <a:t>النبرة الإنسانية:</a:t>
            </a:r>
            <a:r>
              <a:rPr lang="en-US" sz="1200">
                <a:solidFill>
                  <a:schemeClr val="dk1"/>
                </a:solidFill>
              </a:rPr>
              <a:t> يمتلك أفضل أسلوب كتابة طبيعي يحاكي التفكير البشري العميق.</a:t>
            </a:r>
            <a:endParaRPr sz="1200">
              <a:solidFill>
                <a:schemeClr val="dk1"/>
              </a:solidFill>
            </a:endParaRPr>
          </a:p>
        </p:txBody>
      </p:sp>
      <p:sp>
        <p:nvSpPr>
          <p:cNvPr id="151" name="Google Shape;151;p19"/>
          <p:cNvSpPr txBox="1"/>
          <p:nvPr/>
        </p:nvSpPr>
        <p:spPr>
          <a:xfrm>
            <a:off x="5257798" y="5105400"/>
            <a:ext cx="6489600" cy="10932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b="1" lang="en-US">
                <a:solidFill>
                  <a:schemeClr val="dk1"/>
                </a:solidFill>
              </a:rPr>
              <a:t>Gemini (Google)</a:t>
            </a:r>
            <a:endParaRPr b="1">
              <a:solidFill>
                <a:schemeClr val="dk1"/>
              </a:solidFill>
            </a:endParaRPr>
          </a:p>
          <a:p>
            <a:pPr indent="-304800" lvl="0" marL="457200" rtl="0" algn="r">
              <a:lnSpc>
                <a:spcPct val="115000"/>
              </a:lnSpc>
              <a:spcBef>
                <a:spcPts val="400"/>
              </a:spcBef>
              <a:spcAft>
                <a:spcPts val="0"/>
              </a:spcAft>
              <a:buClr>
                <a:schemeClr val="dk1"/>
              </a:buClr>
              <a:buSzPts val="1200"/>
              <a:buChar char="●"/>
            </a:pPr>
            <a:r>
              <a:rPr b="1" lang="en-US" sz="1200">
                <a:solidFill>
                  <a:schemeClr val="dk1"/>
                </a:solidFill>
              </a:rPr>
              <a:t>المنظومة السحابية:</a:t>
            </a:r>
            <a:r>
              <a:rPr lang="en-US" sz="1200">
                <a:solidFill>
                  <a:schemeClr val="dk1"/>
                </a:solidFill>
              </a:rPr>
              <a:t> تكامل عميق ومباشر مع خدمات Google السحابية وبيئة العمل (Google Workspace).</a:t>
            </a:r>
            <a:endParaRPr sz="1200">
              <a:solidFill>
                <a:schemeClr val="dk1"/>
              </a:solidFill>
            </a:endParaRPr>
          </a:p>
          <a:p>
            <a:pPr indent="-304800" lvl="0" marL="457200" rtl="0" algn="r">
              <a:lnSpc>
                <a:spcPct val="115000"/>
              </a:lnSpc>
              <a:spcBef>
                <a:spcPts val="0"/>
              </a:spcBef>
              <a:spcAft>
                <a:spcPts val="0"/>
              </a:spcAft>
              <a:buClr>
                <a:schemeClr val="dk1"/>
              </a:buClr>
              <a:buSzPts val="1200"/>
              <a:buChar char="●"/>
            </a:pPr>
            <a:r>
              <a:rPr b="1" lang="en-US" sz="1200">
                <a:solidFill>
                  <a:schemeClr val="dk1"/>
                </a:solidFill>
              </a:rPr>
              <a:t>الذاكرة الضخمة:</a:t>
            </a:r>
            <a:r>
              <a:rPr lang="en-US" sz="1200">
                <a:solidFill>
                  <a:schemeClr val="dk1"/>
                </a:solidFill>
              </a:rPr>
              <a:t> يتفوق بأكبر نافذة سياق (Context Window) تصل إلى ملايين الكلمات.</a:t>
            </a:r>
            <a:endParaRPr sz="1200">
              <a:solidFill>
                <a:schemeClr val="dk1"/>
              </a:solidFill>
            </a:endParaRPr>
          </a:p>
          <a:p>
            <a:pPr indent="-304800" lvl="0" marL="457200" rtl="0" algn="r">
              <a:lnSpc>
                <a:spcPct val="115000"/>
              </a:lnSpc>
              <a:spcBef>
                <a:spcPts val="0"/>
              </a:spcBef>
              <a:spcAft>
                <a:spcPts val="0"/>
              </a:spcAft>
              <a:buClr>
                <a:schemeClr val="dk1"/>
              </a:buClr>
              <a:buSzPts val="1200"/>
              <a:buChar char="●"/>
            </a:pPr>
            <a:r>
              <a:rPr b="1" lang="en-US" sz="1200">
                <a:solidFill>
                  <a:schemeClr val="dk1"/>
                </a:solidFill>
              </a:rPr>
              <a:t>المعالجة المتعددة:</a:t>
            </a:r>
            <a:r>
              <a:rPr lang="en-US" sz="1200">
                <a:solidFill>
                  <a:schemeClr val="dk1"/>
                </a:solidFill>
              </a:rPr>
              <a:t> معالجة متقدمة جداً للفيديوهات والملفات الضخمة والصوتيات دفعة واحدة.</a:t>
            </a:r>
            <a:endParaRPr sz="1200">
              <a:solidFill>
                <a:schemeClr val="dk1"/>
              </a:solidFill>
            </a:endParaRPr>
          </a:p>
        </p:txBody>
      </p:sp>
      <p:pic>
        <p:nvPicPr>
          <p:cNvPr id="152" name="Google Shape;152;p19"/>
          <p:cNvPicPr preferRelativeResize="0"/>
          <p:nvPr/>
        </p:nvPicPr>
        <p:blipFill>
          <a:blip r:embed="rId4">
            <a:alphaModFix/>
          </a:blip>
          <a:stretch>
            <a:fillRect/>
          </a:stretch>
        </p:blipFill>
        <p:spPr>
          <a:xfrm rot="5400000">
            <a:off x="-1233912" y="1183688"/>
            <a:ext cx="6851050" cy="44906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pic>
        <p:nvPicPr>
          <p:cNvPr descr="image.png" id="157" name="Google Shape;157;p20"/>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58" name="Google Shape;158;p20"/>
          <p:cNvGraphicFramePr/>
          <p:nvPr/>
        </p:nvGraphicFramePr>
        <p:xfrm>
          <a:off x="666750" y="2696616"/>
          <a:ext cx="3000000" cy="3000000"/>
        </p:xfrm>
        <a:graphic>
          <a:graphicData uri="http://schemas.openxmlformats.org/drawingml/2006/table">
            <a:tbl>
              <a:tblPr bandRow="1" firstRow="1">
                <a:noFill/>
                <a:tableStyleId>{985F04A3-E253-49F4-B0F5-F8532339FE82}</a:tableStyleId>
              </a:tblPr>
              <a:tblGrid>
                <a:gridCol w="1925400"/>
                <a:gridCol w="2629050"/>
                <a:gridCol w="3010200"/>
                <a:gridCol w="3293875"/>
              </a:tblGrid>
              <a:tr h="523875">
                <a:tc>
                  <a:txBody>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المعايير والمزايا</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ChatGPT (GPT-5/Pro)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Claude (Opus/Sonnet)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Gemini (Pro/Advanced)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3875">
                <a:tc>
                  <a:txBody>
                    <a:bodyPr/>
                    <a:lstStyle/>
                    <a:p>
                      <a:pPr indent="0" lvl="0" marL="0" marR="0" rtl="0" algn="r">
                        <a:spcBef>
                          <a:spcPts val="0"/>
                        </a:spcBef>
                        <a:spcAft>
                          <a:spcPts val="0"/>
                        </a:spcAft>
                        <a:buNone/>
                      </a:pPr>
                      <a:r>
                        <a:rPr b="1" i="0" lang="en-US" sz="1200" u="none" cap="none" strike="noStrike">
                          <a:solidFill>
                            <a:srgbClr val="000000"/>
                          </a:solidFill>
                          <a:latin typeface="Cairo"/>
                          <a:ea typeface="Cairo"/>
                          <a:cs typeface="Cairo"/>
                          <a:sym typeface="Cairo"/>
                        </a:rPr>
                        <a:t>الشركة المطورة</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OpenAI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Anthropic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Google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3875">
                <a:tc>
                  <a:txBody>
                    <a:bodyPr/>
                    <a:lstStyle/>
                    <a:p>
                      <a:pPr indent="0" lvl="0" marL="0" marR="0" rtl="0" algn="r">
                        <a:spcBef>
                          <a:spcPts val="0"/>
                        </a:spcBef>
                        <a:spcAft>
                          <a:spcPts val="0"/>
                        </a:spcAft>
                        <a:buNone/>
                      </a:pPr>
                      <a:r>
                        <a:rPr b="1" i="0" lang="en-US" sz="1200" u="none" cap="none" strike="noStrike">
                          <a:solidFill>
                            <a:srgbClr val="000000"/>
                          </a:solidFill>
                          <a:latin typeface="Cairo"/>
                          <a:ea typeface="Cairo"/>
                          <a:cs typeface="Cairo"/>
                          <a:sym typeface="Cairo"/>
                        </a:rPr>
                        <a:t>نافذة السياق التقريبية</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تصل إلى 400,000 رمز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تصل إلى 1,000,000 رمز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تصل إلى 2,000,000 رمز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3875">
                <a:tc>
                  <a:txBody>
                    <a:bodyPr/>
                    <a:lstStyle/>
                    <a:p>
                      <a:pPr indent="0" lvl="0" marL="0" marR="0" rtl="0" algn="r">
                        <a:spcBef>
                          <a:spcPts val="0"/>
                        </a:spcBef>
                        <a:spcAft>
                          <a:spcPts val="0"/>
                        </a:spcAft>
                        <a:buNone/>
                      </a:pPr>
                      <a:r>
                        <a:rPr b="1" i="0" lang="en-US" sz="1200" u="none" cap="none" strike="noStrike">
                          <a:solidFill>
                            <a:srgbClr val="000000"/>
                          </a:solidFill>
                          <a:latin typeface="Cairo"/>
                          <a:ea typeface="Cairo"/>
                          <a:cs typeface="Cairo"/>
                          <a:sym typeface="Cairo"/>
                        </a:rPr>
                        <a:t>أفضل استخدام عملي</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تطبيقات تفاعلية وتحليل مرن للبيانات</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الكتابة المتقدمة، البرمجة والتحليل العميق</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البحث السريع المباشر وتلخيص الملفات الضخمة</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3875">
                <a:tc>
                  <a:txBody>
                    <a:bodyPr/>
                    <a:lstStyle/>
                    <a:p>
                      <a:pPr indent="0" lvl="0" marL="0" marR="0" rtl="0" algn="r">
                        <a:spcBef>
                          <a:spcPts val="0"/>
                        </a:spcBef>
                        <a:spcAft>
                          <a:spcPts val="0"/>
                        </a:spcAft>
                        <a:buNone/>
                      </a:pPr>
                      <a:r>
                        <a:rPr b="1" i="0" lang="en-US" sz="1200" u="none" cap="none" strike="noStrike">
                          <a:solidFill>
                            <a:srgbClr val="000000"/>
                          </a:solidFill>
                          <a:latin typeface="Cairo"/>
                          <a:ea typeface="Cairo"/>
                          <a:cs typeface="Cairo"/>
                          <a:sym typeface="Cairo"/>
                        </a:rPr>
                        <a:t>توليد الصور المدمج</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ممتاز (DALL-E 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غير متوفر حالياً بشكل مباشر</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cap="none" strike="noStrike">
                          <a:solidFill>
                            <a:srgbClr val="000000"/>
                          </a:solidFill>
                          <a:latin typeface="Cairo"/>
                          <a:ea typeface="Cairo"/>
                          <a:cs typeface="Cairo"/>
                          <a:sym typeface="Cairo"/>
                        </a:rPr>
                        <a:t>ممتاز (Imagen)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9" name="Google Shape;159;p20"/>
          <p:cNvSpPr/>
          <p:nvPr/>
        </p:nvSpPr>
        <p:spPr>
          <a:xfrm>
            <a:off x="9599860" y="3206204"/>
            <a:ext cx="192538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20"/>
          <p:cNvSpPr/>
          <p:nvPr/>
        </p:nvSpPr>
        <p:spPr>
          <a:xfrm>
            <a:off x="6970811" y="3206204"/>
            <a:ext cx="26290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20"/>
          <p:cNvSpPr/>
          <p:nvPr/>
        </p:nvSpPr>
        <p:spPr>
          <a:xfrm>
            <a:off x="3960614" y="3206204"/>
            <a:ext cx="301019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20"/>
          <p:cNvSpPr/>
          <p:nvPr/>
        </p:nvSpPr>
        <p:spPr>
          <a:xfrm>
            <a:off x="666750" y="3206204"/>
            <a:ext cx="32938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20"/>
          <p:cNvSpPr/>
          <p:nvPr/>
        </p:nvSpPr>
        <p:spPr>
          <a:xfrm>
            <a:off x="9599860" y="3730079"/>
            <a:ext cx="192538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20"/>
          <p:cNvSpPr/>
          <p:nvPr/>
        </p:nvSpPr>
        <p:spPr>
          <a:xfrm>
            <a:off x="6970811" y="3730079"/>
            <a:ext cx="26290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20"/>
          <p:cNvSpPr/>
          <p:nvPr/>
        </p:nvSpPr>
        <p:spPr>
          <a:xfrm>
            <a:off x="3960614" y="3730079"/>
            <a:ext cx="301019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20"/>
          <p:cNvSpPr/>
          <p:nvPr/>
        </p:nvSpPr>
        <p:spPr>
          <a:xfrm>
            <a:off x="666750" y="3730079"/>
            <a:ext cx="32938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20"/>
          <p:cNvSpPr/>
          <p:nvPr/>
        </p:nvSpPr>
        <p:spPr>
          <a:xfrm>
            <a:off x="9599860" y="4253954"/>
            <a:ext cx="192538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20"/>
          <p:cNvSpPr/>
          <p:nvPr/>
        </p:nvSpPr>
        <p:spPr>
          <a:xfrm>
            <a:off x="6970811" y="4253954"/>
            <a:ext cx="26290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20"/>
          <p:cNvSpPr/>
          <p:nvPr/>
        </p:nvSpPr>
        <p:spPr>
          <a:xfrm>
            <a:off x="3960614" y="4253954"/>
            <a:ext cx="301019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20"/>
          <p:cNvSpPr/>
          <p:nvPr/>
        </p:nvSpPr>
        <p:spPr>
          <a:xfrm>
            <a:off x="666750" y="4253954"/>
            <a:ext cx="32938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20"/>
          <p:cNvSpPr/>
          <p:nvPr/>
        </p:nvSpPr>
        <p:spPr>
          <a:xfrm>
            <a:off x="9599860" y="4777829"/>
            <a:ext cx="192538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20"/>
          <p:cNvSpPr/>
          <p:nvPr/>
        </p:nvSpPr>
        <p:spPr>
          <a:xfrm>
            <a:off x="6970811" y="4777829"/>
            <a:ext cx="26290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20"/>
          <p:cNvSpPr/>
          <p:nvPr/>
        </p:nvSpPr>
        <p:spPr>
          <a:xfrm>
            <a:off x="3960614" y="4777829"/>
            <a:ext cx="301019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20"/>
          <p:cNvSpPr/>
          <p:nvPr/>
        </p:nvSpPr>
        <p:spPr>
          <a:xfrm>
            <a:off x="666750" y="4777829"/>
            <a:ext cx="32938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20"/>
          <p:cNvSpPr/>
          <p:nvPr/>
        </p:nvSpPr>
        <p:spPr>
          <a:xfrm>
            <a:off x="9599860" y="5301704"/>
            <a:ext cx="192538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20"/>
          <p:cNvSpPr/>
          <p:nvPr/>
        </p:nvSpPr>
        <p:spPr>
          <a:xfrm>
            <a:off x="6970811" y="5301704"/>
            <a:ext cx="26290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20"/>
          <p:cNvSpPr/>
          <p:nvPr/>
        </p:nvSpPr>
        <p:spPr>
          <a:xfrm>
            <a:off x="3960614" y="5301704"/>
            <a:ext cx="301019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20"/>
          <p:cNvSpPr/>
          <p:nvPr/>
        </p:nvSpPr>
        <p:spPr>
          <a:xfrm>
            <a:off x="666750" y="5301704"/>
            <a:ext cx="32938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20"/>
          <p:cNvSpPr txBox="1"/>
          <p:nvPr/>
        </p:nvSpPr>
        <p:spPr>
          <a:xfrm>
            <a:off x="130968" y="745033"/>
            <a:ext cx="11251406" cy="6000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550" u="none" cap="none" strike="noStrike">
                <a:solidFill>
                  <a:srgbClr val="0F172A"/>
                </a:solidFill>
                <a:latin typeface="Cairo"/>
                <a:ea typeface="Cairo"/>
                <a:cs typeface="Cairo"/>
                <a:sym typeface="Cairo"/>
              </a:rPr>
              <a:t>جدول مقارنة المواصفات والقدرات</a:t>
            </a:r>
            <a:endParaRPr/>
          </a:p>
        </p:txBody>
      </p:sp>
      <p:sp>
        <p:nvSpPr>
          <p:cNvPr id="180" name="Google Shape;180;p20"/>
          <p:cNvSpPr/>
          <p:nvPr/>
        </p:nvSpPr>
        <p:spPr>
          <a:xfrm>
            <a:off x="11477625" y="745033"/>
            <a:ext cx="47625"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pic>
        <p:nvPicPr>
          <p:cNvPr descr="image.png" id="185" name="Google Shape;185;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6" name="Google Shape;186;p21"/>
          <p:cNvPicPr preferRelativeResize="0"/>
          <p:nvPr/>
        </p:nvPicPr>
        <p:blipFill rotWithShape="1">
          <a:blip r:embed="rId4">
            <a:alphaModFix/>
          </a:blip>
          <a:srcRect b="0" l="0" r="0" t="0"/>
          <a:stretch/>
        </p:blipFill>
        <p:spPr>
          <a:xfrm>
            <a:off x="8032700" y="2553741"/>
            <a:ext cx="3492549" cy="2905125"/>
          </a:xfrm>
          <a:prstGeom prst="rect">
            <a:avLst/>
          </a:prstGeom>
          <a:noFill/>
          <a:ln>
            <a:noFill/>
          </a:ln>
        </p:spPr>
      </p:pic>
      <p:pic>
        <p:nvPicPr>
          <p:cNvPr descr="image.png" id="187" name="Google Shape;187;p21"/>
          <p:cNvPicPr preferRelativeResize="0"/>
          <p:nvPr/>
        </p:nvPicPr>
        <p:blipFill rotWithShape="1">
          <a:blip r:embed="rId5">
            <a:alphaModFix/>
          </a:blip>
          <a:srcRect b="0" l="0" r="0" t="0"/>
          <a:stretch/>
        </p:blipFill>
        <p:spPr>
          <a:xfrm>
            <a:off x="4349650" y="2553741"/>
            <a:ext cx="3492549" cy="2905125"/>
          </a:xfrm>
          <a:prstGeom prst="rect">
            <a:avLst/>
          </a:prstGeom>
          <a:noFill/>
          <a:ln>
            <a:noFill/>
          </a:ln>
        </p:spPr>
      </p:pic>
      <p:pic>
        <p:nvPicPr>
          <p:cNvPr descr="image.png" id="188" name="Google Shape;188;p21"/>
          <p:cNvPicPr preferRelativeResize="0"/>
          <p:nvPr/>
        </p:nvPicPr>
        <p:blipFill rotWithShape="1">
          <a:blip r:embed="rId6">
            <a:alphaModFix/>
          </a:blip>
          <a:srcRect b="0" l="0" r="0" t="0"/>
          <a:stretch/>
        </p:blipFill>
        <p:spPr>
          <a:xfrm>
            <a:off x="666601" y="2553741"/>
            <a:ext cx="3492549" cy="2905125"/>
          </a:xfrm>
          <a:prstGeom prst="rect">
            <a:avLst/>
          </a:prstGeom>
          <a:noFill/>
          <a:ln>
            <a:noFill/>
          </a:ln>
        </p:spPr>
      </p:pic>
      <p:sp>
        <p:nvSpPr>
          <p:cNvPr id="189" name="Google Shape;189;p21"/>
          <p:cNvSpPr txBox="1"/>
          <p:nvPr/>
        </p:nvSpPr>
        <p:spPr>
          <a:xfrm>
            <a:off x="8099055" y="3696741"/>
            <a:ext cx="3207119" cy="4000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650" u="none" cap="none" strike="noStrike">
                <a:solidFill>
                  <a:srgbClr val="1E293B"/>
                </a:solidFill>
                <a:latin typeface="Cairo SemiBold"/>
                <a:ea typeface="Cairo SemiBold"/>
                <a:cs typeface="Cairo SemiBold"/>
                <a:sym typeface="Cairo SemiBold"/>
              </a:rPr>
              <a:t>Claude: دقة الأكواد والنصوص</a:t>
            </a:r>
            <a:endParaRPr/>
          </a:p>
        </p:txBody>
      </p:sp>
      <p:sp>
        <p:nvSpPr>
          <p:cNvPr id="190" name="Google Shape;190;p21"/>
          <p:cNvSpPr txBox="1"/>
          <p:nvPr/>
        </p:nvSpPr>
        <p:spPr>
          <a:xfrm>
            <a:off x="8251775" y="4211091"/>
            <a:ext cx="3054399" cy="9144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الخيار الأول للمبرمجين والكتاب الأكاديميين لتقديمه نبرة كتابة طبيعية خالية من النبرات الروبوتية المكررة، وقدرة استثنائية على مراجعة وفهم المشاريع البرمجية الضخمة.</a:t>
            </a:r>
            <a:endParaRPr/>
          </a:p>
        </p:txBody>
      </p:sp>
      <p:sp>
        <p:nvSpPr>
          <p:cNvPr id="191" name="Google Shape;191;p21"/>
          <p:cNvSpPr txBox="1"/>
          <p:nvPr/>
        </p:nvSpPr>
        <p:spPr>
          <a:xfrm>
            <a:off x="4416005" y="3696741"/>
            <a:ext cx="3207119" cy="4000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650" u="none" cap="none" strike="noStrike">
                <a:solidFill>
                  <a:srgbClr val="1E293B"/>
                </a:solidFill>
                <a:latin typeface="Cairo SemiBold"/>
                <a:ea typeface="Cairo SemiBold"/>
                <a:cs typeface="Cairo SemiBold"/>
                <a:sym typeface="Cairo SemiBold"/>
              </a:rPr>
              <a:t>ChatGPT: الأداة المتنوعة</a:t>
            </a:r>
            <a:endParaRPr/>
          </a:p>
        </p:txBody>
      </p:sp>
      <p:sp>
        <p:nvSpPr>
          <p:cNvPr id="192" name="Google Shape;192;p21"/>
          <p:cNvSpPr txBox="1"/>
          <p:nvPr/>
        </p:nvSpPr>
        <p:spPr>
          <a:xfrm>
            <a:off x="4568725" y="4211091"/>
            <a:ext cx="3054399" cy="9144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يتفوق في تشغيل وتحليل ملفات البيانات، كتابة أكواد بايثون وتطبيقها فورياً عبر ميزة بيئة البرمجة المدمجة (Code Interpreter) وبناء الروبوتات المخصصة GPTs.</a:t>
            </a:r>
            <a:endParaRPr/>
          </a:p>
        </p:txBody>
      </p:sp>
      <p:sp>
        <p:nvSpPr>
          <p:cNvPr id="193" name="Google Shape;193;p21"/>
          <p:cNvSpPr txBox="1"/>
          <p:nvPr/>
        </p:nvSpPr>
        <p:spPr>
          <a:xfrm>
            <a:off x="732956" y="3696741"/>
            <a:ext cx="3207119" cy="4000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650" u="none" cap="none" strike="noStrike">
                <a:solidFill>
                  <a:srgbClr val="1E293B"/>
                </a:solidFill>
                <a:latin typeface="Cairo SemiBold"/>
                <a:ea typeface="Cairo SemiBold"/>
                <a:cs typeface="Cairo SemiBold"/>
                <a:sym typeface="Cairo SemiBold"/>
              </a:rPr>
              <a:t>Gemini: البحث ومنظومة العمل</a:t>
            </a:r>
            <a:endParaRPr/>
          </a:p>
        </p:txBody>
      </p:sp>
      <p:sp>
        <p:nvSpPr>
          <p:cNvPr id="194" name="Google Shape;194;p21"/>
          <p:cNvSpPr txBox="1"/>
          <p:nvPr/>
        </p:nvSpPr>
        <p:spPr>
          <a:xfrm>
            <a:off x="885676" y="4211091"/>
            <a:ext cx="3054399" cy="9144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يمتاز باتصال لحظي وموثوق بمحرك بحث Google ودمج كامل ومباشر مع أدوات Google Workspace مثل المستندات والبريد الإلكتروني، بالإضافة لمعالجة ملفات الفيديو والصوت.</a:t>
            </a:r>
            <a:endParaRPr/>
          </a:p>
        </p:txBody>
      </p:sp>
      <p:pic>
        <p:nvPicPr>
          <p:cNvPr descr="image.png" id="195" name="Google Shape;195;p21"/>
          <p:cNvPicPr preferRelativeResize="0"/>
          <p:nvPr/>
        </p:nvPicPr>
        <p:blipFill rotWithShape="1">
          <a:blip r:embed="rId7">
            <a:alphaModFix/>
          </a:blip>
          <a:srcRect b="0" l="0" r="0" t="0"/>
          <a:stretch/>
        </p:blipFill>
        <p:spPr>
          <a:xfrm>
            <a:off x="10925175" y="2906166"/>
            <a:ext cx="381000" cy="304800"/>
          </a:xfrm>
          <a:prstGeom prst="rect">
            <a:avLst/>
          </a:prstGeom>
          <a:noFill/>
          <a:ln>
            <a:noFill/>
          </a:ln>
        </p:spPr>
      </p:pic>
      <p:pic>
        <p:nvPicPr>
          <p:cNvPr descr="image.png" id="196" name="Google Shape;196;p21"/>
          <p:cNvPicPr preferRelativeResize="0"/>
          <p:nvPr/>
        </p:nvPicPr>
        <p:blipFill rotWithShape="1">
          <a:blip r:embed="rId8">
            <a:alphaModFix/>
          </a:blip>
          <a:srcRect b="0" l="0" r="0" t="0"/>
          <a:stretch/>
        </p:blipFill>
        <p:spPr>
          <a:xfrm>
            <a:off x="7318325" y="2906166"/>
            <a:ext cx="304800" cy="304800"/>
          </a:xfrm>
          <a:prstGeom prst="rect">
            <a:avLst/>
          </a:prstGeom>
          <a:noFill/>
          <a:ln>
            <a:noFill/>
          </a:ln>
        </p:spPr>
      </p:pic>
      <p:pic>
        <p:nvPicPr>
          <p:cNvPr descr="image.png" id="197" name="Google Shape;197;p21"/>
          <p:cNvPicPr preferRelativeResize="0"/>
          <p:nvPr/>
        </p:nvPicPr>
        <p:blipFill rotWithShape="1">
          <a:blip r:embed="rId9">
            <a:alphaModFix/>
          </a:blip>
          <a:srcRect b="0" l="0" r="0" t="0"/>
          <a:stretch/>
        </p:blipFill>
        <p:spPr>
          <a:xfrm>
            <a:off x="3635275" y="2906166"/>
            <a:ext cx="304800" cy="304800"/>
          </a:xfrm>
          <a:prstGeom prst="rect">
            <a:avLst/>
          </a:prstGeom>
          <a:noFill/>
          <a:ln>
            <a:noFill/>
          </a:ln>
        </p:spPr>
      </p:pic>
      <p:sp>
        <p:nvSpPr>
          <p:cNvPr id="198" name="Google Shape;198;p21"/>
          <p:cNvSpPr txBox="1"/>
          <p:nvPr/>
        </p:nvSpPr>
        <p:spPr>
          <a:xfrm>
            <a:off x="130968" y="745033"/>
            <a:ext cx="11251406" cy="6000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550" u="none" cap="none" strike="noStrike">
                <a:solidFill>
                  <a:srgbClr val="0F172A"/>
                </a:solidFill>
                <a:latin typeface="Cairo"/>
                <a:ea typeface="Cairo"/>
                <a:cs typeface="Cairo"/>
                <a:sym typeface="Cairo"/>
              </a:rPr>
              <a:t>نقاط القوة الاستراتيجية لكل نموذج</a:t>
            </a:r>
            <a:endParaRPr/>
          </a:p>
        </p:txBody>
      </p:sp>
      <p:sp>
        <p:nvSpPr>
          <p:cNvPr id="199" name="Google Shape;199;p21"/>
          <p:cNvSpPr/>
          <p:nvPr/>
        </p:nvSpPr>
        <p:spPr>
          <a:xfrm>
            <a:off x="11477625" y="745033"/>
            <a:ext cx="47625"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pic>
        <p:nvPicPr>
          <p:cNvPr descr="image.png" id="204" name="Google Shape;204;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5" name="Google Shape;205;p22"/>
          <p:cNvSpPr txBox="1"/>
          <p:nvPr/>
        </p:nvSpPr>
        <p:spPr>
          <a:xfrm>
            <a:off x="573232" y="1958429"/>
            <a:ext cx="10429800" cy="369300"/>
          </a:xfrm>
          <a:prstGeom prst="rect">
            <a:avLst/>
          </a:prstGeom>
          <a:noFill/>
          <a:ln>
            <a:noFill/>
          </a:ln>
        </p:spPr>
        <p:txBody>
          <a:bodyPr anchorCtr="0" anchor="t" bIns="0" lIns="219075" spcFirstLastPara="1" rIns="0" wrap="square" tIns="0">
            <a:spAutoFit/>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تحديد الدور والوظيفة (Role)</a:t>
            </a:r>
            <a:endParaRPr b="1" i="0" sz="1200" u="none" cap="none" strike="noStrike">
              <a:solidFill>
                <a:srgbClr val="0F172A"/>
              </a:solidFill>
              <a:latin typeface="Cairo"/>
              <a:ea typeface="Cairo"/>
              <a:cs typeface="Cairo"/>
              <a:sym typeface="Cairo"/>
            </a:endParaRPr>
          </a:p>
          <a:p>
            <a:pPr indent="0" lvl="0" marL="0" marR="0" rtl="0" algn="r">
              <a:spcBef>
                <a:spcPts val="0"/>
              </a:spcBef>
              <a:spcAft>
                <a:spcPts val="0"/>
              </a:spcAft>
              <a:buNone/>
            </a:pPr>
            <a:r>
              <a:rPr b="1" lang="en-US" sz="1200">
                <a:solidFill>
                  <a:srgbClr val="0F172A"/>
                </a:solidFill>
                <a:latin typeface="Cairo"/>
                <a:ea typeface="Cairo"/>
                <a:cs typeface="Cairo"/>
                <a:sym typeface="Cairo"/>
              </a:rPr>
              <a:t> </a:t>
            </a:r>
            <a:r>
              <a:rPr b="0" i="0" lang="en-US" sz="1200" u="none" cap="none" strike="noStrike">
                <a:solidFill>
                  <a:srgbClr val="475569"/>
                </a:solidFill>
                <a:latin typeface="Cairo"/>
                <a:ea typeface="Cairo"/>
                <a:cs typeface="Cairo"/>
                <a:sym typeface="Cairo"/>
              </a:rPr>
              <a:t>صياغة الأمر بتحديد هوية النموذج بوضوح (مثال: "تصرف كمحلل برمجيات خبير ورائد في حماية البيانات").</a:t>
            </a:r>
            <a:endParaRPr/>
          </a:p>
        </p:txBody>
      </p:sp>
      <p:sp>
        <p:nvSpPr>
          <p:cNvPr id="206" name="Google Shape;206;p22"/>
          <p:cNvSpPr txBox="1"/>
          <p:nvPr/>
        </p:nvSpPr>
        <p:spPr>
          <a:xfrm>
            <a:off x="573232" y="2491829"/>
            <a:ext cx="10429800" cy="369300"/>
          </a:xfrm>
          <a:prstGeom prst="rect">
            <a:avLst/>
          </a:prstGeom>
          <a:noFill/>
          <a:ln>
            <a:noFill/>
          </a:ln>
        </p:spPr>
        <p:txBody>
          <a:bodyPr anchorCtr="0" anchor="t" bIns="0" lIns="190500" spcFirstLastPara="1" rIns="0" wrap="square" tIns="0">
            <a:spAutoFit/>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تقديم السياق والخلفية (Context):</a:t>
            </a:r>
            <a:endParaRPr b="1" i="0" sz="1200" u="none" cap="none" strike="noStrike">
              <a:solidFill>
                <a:srgbClr val="0F172A"/>
              </a:solidFill>
              <a:latin typeface="Cairo"/>
              <a:ea typeface="Cairo"/>
              <a:cs typeface="Cairo"/>
              <a:sym typeface="Cairo"/>
            </a:endParaRPr>
          </a:p>
          <a:p>
            <a:pPr indent="0" lvl="0" marL="0" marR="0" rtl="0" algn="r">
              <a:spcBef>
                <a:spcPts val="0"/>
              </a:spcBef>
              <a:spcAft>
                <a:spcPts val="0"/>
              </a:spcAft>
              <a:buNone/>
            </a:pPr>
            <a:r>
              <a:rPr b="0" i="0" lang="en-US" sz="1200" u="none" cap="none" strike="noStrike">
                <a:solidFill>
                  <a:srgbClr val="475569"/>
                </a:solidFill>
                <a:latin typeface="Cairo"/>
                <a:ea typeface="Cairo"/>
                <a:cs typeface="Cairo"/>
                <a:sym typeface="Cairo"/>
              </a:rPr>
              <a:t> تزويد النموذج بالمعلومات التفصيلية، القيود، والجمهور المستهدف لتحقيق أفضل دقة مخرجات ممكنة وتفادي الإجابات العامة.</a:t>
            </a:r>
            <a:endParaRPr/>
          </a:p>
        </p:txBody>
      </p:sp>
      <p:sp>
        <p:nvSpPr>
          <p:cNvPr id="207" name="Google Shape;207;p22"/>
          <p:cNvSpPr txBox="1"/>
          <p:nvPr/>
        </p:nvSpPr>
        <p:spPr>
          <a:xfrm>
            <a:off x="598411" y="3025229"/>
            <a:ext cx="10429800" cy="369300"/>
          </a:xfrm>
          <a:prstGeom prst="rect">
            <a:avLst/>
          </a:prstGeom>
          <a:noFill/>
          <a:ln>
            <a:noFill/>
          </a:ln>
        </p:spPr>
        <p:txBody>
          <a:bodyPr anchorCtr="0" anchor="t" bIns="0" lIns="238125" spcFirstLastPara="1" rIns="0" wrap="square" tIns="0">
            <a:spAutoFit/>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تنسيق المخرجات وهيكلتها (Format):</a:t>
            </a:r>
            <a:endParaRPr b="1" i="0" sz="1200" u="none" cap="none" strike="noStrike">
              <a:solidFill>
                <a:srgbClr val="0F172A"/>
              </a:solidFill>
              <a:latin typeface="Cairo"/>
              <a:ea typeface="Cairo"/>
              <a:cs typeface="Cairo"/>
              <a:sym typeface="Cairo"/>
            </a:endParaRPr>
          </a:p>
          <a:p>
            <a:pPr indent="0" lvl="0" marL="0" marR="0" rtl="0" algn="r">
              <a:spcBef>
                <a:spcPts val="0"/>
              </a:spcBef>
              <a:spcAft>
                <a:spcPts val="0"/>
              </a:spcAft>
              <a:buNone/>
            </a:pPr>
            <a:r>
              <a:rPr b="0" i="0" lang="en-US" sz="1200" u="none" cap="none" strike="noStrike">
                <a:solidFill>
                  <a:srgbClr val="475569"/>
                </a:solidFill>
                <a:latin typeface="Cairo"/>
                <a:ea typeface="Cairo"/>
                <a:cs typeface="Cairo"/>
                <a:sym typeface="Cairo"/>
              </a:rPr>
              <a:t> توجيه النموذج لإخراج الإجابة بالشكل المرغوب بدقة (مثل: "صمم الإجابة في جدول مقارنة منظم" أو "كود نظيف مع تعليقات توضيحية").</a:t>
            </a:r>
            <a:endParaRPr/>
          </a:p>
        </p:txBody>
      </p:sp>
      <p:sp>
        <p:nvSpPr>
          <p:cNvPr id="208" name="Google Shape;208;p22"/>
          <p:cNvSpPr txBox="1"/>
          <p:nvPr/>
        </p:nvSpPr>
        <p:spPr>
          <a:xfrm>
            <a:off x="614798" y="3558629"/>
            <a:ext cx="10429800" cy="369300"/>
          </a:xfrm>
          <a:prstGeom prst="rect">
            <a:avLst/>
          </a:prstGeom>
          <a:noFill/>
          <a:ln>
            <a:noFill/>
          </a:ln>
        </p:spPr>
        <p:txBody>
          <a:bodyPr anchorCtr="0" anchor="t" bIns="0" lIns="142875" spcFirstLastPara="1" rIns="0" wrap="square" tIns="0">
            <a:spAutoFit/>
          </a:bodyPr>
          <a:lstStyle/>
          <a:p>
            <a:pPr indent="0" lvl="0" marL="0" marR="0" rtl="0" algn="r">
              <a:spcBef>
                <a:spcPts val="0"/>
              </a:spcBef>
              <a:spcAft>
                <a:spcPts val="0"/>
              </a:spcAft>
              <a:buNone/>
            </a:pPr>
            <a:r>
              <a:rPr b="1" i="0" lang="en-US" sz="1200" u="none" cap="none" strike="noStrike">
                <a:solidFill>
                  <a:srgbClr val="0F172A"/>
                </a:solidFill>
                <a:latin typeface="Cairo"/>
                <a:ea typeface="Cairo"/>
                <a:cs typeface="Cairo"/>
                <a:sym typeface="Cairo"/>
              </a:rPr>
              <a:t>استخدام الأمثلة التوجيهية (Examples):</a:t>
            </a:r>
            <a:endParaRPr b="1" i="0" sz="1200" u="none" cap="none" strike="noStrike">
              <a:solidFill>
                <a:srgbClr val="0F172A"/>
              </a:solidFill>
              <a:latin typeface="Cairo"/>
              <a:ea typeface="Cairo"/>
              <a:cs typeface="Cairo"/>
              <a:sym typeface="Cairo"/>
            </a:endParaRPr>
          </a:p>
          <a:p>
            <a:pPr indent="0" lvl="0" marL="0" marR="0" rtl="0" algn="r">
              <a:spcBef>
                <a:spcPts val="0"/>
              </a:spcBef>
              <a:spcAft>
                <a:spcPts val="0"/>
              </a:spcAft>
              <a:buNone/>
            </a:pPr>
            <a:r>
              <a:rPr b="0" i="0" lang="en-US" sz="1200" u="none" cap="none" strike="noStrike">
                <a:solidFill>
                  <a:srgbClr val="475569"/>
                </a:solidFill>
                <a:latin typeface="Cairo"/>
                <a:ea typeface="Cairo"/>
                <a:cs typeface="Cairo"/>
                <a:sym typeface="Cairo"/>
              </a:rPr>
              <a:t> تقنية Few-shot prompting بتزويد النموذج بمثال أو اثنين من المخرجات المستهدفة لضمان المحاكاة والتنسيق المثالي.</a:t>
            </a:r>
            <a:endParaRPr/>
          </a:p>
        </p:txBody>
      </p:sp>
      <p:pic>
        <p:nvPicPr>
          <p:cNvPr descr="image.png" id="209" name="Google Shape;209;p22"/>
          <p:cNvPicPr preferRelativeResize="0"/>
          <p:nvPr/>
        </p:nvPicPr>
        <p:blipFill rotWithShape="1">
          <a:blip r:embed="rId4">
            <a:alphaModFix/>
          </a:blip>
          <a:srcRect b="0" l="0" r="0" t="0"/>
          <a:stretch/>
        </p:blipFill>
        <p:spPr>
          <a:xfrm>
            <a:off x="11184082" y="2043054"/>
            <a:ext cx="219075" cy="200025"/>
          </a:xfrm>
          <a:prstGeom prst="rect">
            <a:avLst/>
          </a:prstGeom>
          <a:noFill/>
          <a:ln>
            <a:noFill/>
          </a:ln>
        </p:spPr>
      </p:pic>
      <p:pic>
        <p:nvPicPr>
          <p:cNvPr descr="image.png" id="210" name="Google Shape;210;p22"/>
          <p:cNvPicPr preferRelativeResize="0"/>
          <p:nvPr/>
        </p:nvPicPr>
        <p:blipFill rotWithShape="1">
          <a:blip r:embed="rId5">
            <a:alphaModFix/>
          </a:blip>
          <a:srcRect b="0" l="0" r="0" t="0"/>
          <a:stretch/>
        </p:blipFill>
        <p:spPr>
          <a:xfrm>
            <a:off x="11198374" y="2576454"/>
            <a:ext cx="190500" cy="200025"/>
          </a:xfrm>
          <a:prstGeom prst="rect">
            <a:avLst/>
          </a:prstGeom>
          <a:noFill/>
          <a:ln>
            <a:noFill/>
          </a:ln>
        </p:spPr>
      </p:pic>
      <p:pic>
        <p:nvPicPr>
          <p:cNvPr descr="image.png" id="211" name="Google Shape;211;p22"/>
          <p:cNvPicPr preferRelativeResize="0"/>
          <p:nvPr/>
        </p:nvPicPr>
        <p:blipFill rotWithShape="1">
          <a:blip r:embed="rId6">
            <a:alphaModFix/>
          </a:blip>
          <a:srcRect b="0" l="0" r="0" t="0"/>
          <a:stretch/>
        </p:blipFill>
        <p:spPr>
          <a:xfrm>
            <a:off x="11191875" y="3134766"/>
            <a:ext cx="238125" cy="200025"/>
          </a:xfrm>
          <a:prstGeom prst="rect">
            <a:avLst/>
          </a:prstGeom>
          <a:noFill/>
          <a:ln>
            <a:noFill/>
          </a:ln>
        </p:spPr>
      </p:pic>
      <p:pic>
        <p:nvPicPr>
          <p:cNvPr descr="image.png" id="212" name="Google Shape;212;p22"/>
          <p:cNvPicPr preferRelativeResize="0"/>
          <p:nvPr/>
        </p:nvPicPr>
        <p:blipFill rotWithShape="1">
          <a:blip r:embed="rId7">
            <a:alphaModFix/>
          </a:blip>
          <a:srcRect b="0" l="0" r="0" t="0"/>
          <a:stretch/>
        </p:blipFill>
        <p:spPr>
          <a:xfrm>
            <a:off x="11249891" y="3641136"/>
            <a:ext cx="142875" cy="200025"/>
          </a:xfrm>
          <a:prstGeom prst="rect">
            <a:avLst/>
          </a:prstGeom>
          <a:noFill/>
          <a:ln>
            <a:noFill/>
          </a:ln>
        </p:spPr>
      </p:pic>
      <p:sp>
        <p:nvSpPr>
          <p:cNvPr id="213" name="Google Shape;213;p22"/>
          <p:cNvSpPr txBox="1"/>
          <p:nvPr/>
        </p:nvSpPr>
        <p:spPr>
          <a:xfrm>
            <a:off x="130968" y="745033"/>
            <a:ext cx="11251406" cy="6000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550" u="none" cap="none" strike="noStrike">
                <a:solidFill>
                  <a:srgbClr val="0F172A"/>
                </a:solidFill>
                <a:latin typeface="Cairo"/>
                <a:ea typeface="Cairo"/>
                <a:cs typeface="Cairo"/>
                <a:sym typeface="Cairo"/>
              </a:rPr>
              <a:t>تقنيات صياغة الأوامر الفعالة (Prompting)</a:t>
            </a:r>
            <a:endParaRPr/>
          </a:p>
        </p:txBody>
      </p:sp>
      <p:sp>
        <p:nvSpPr>
          <p:cNvPr id="214" name="Google Shape;214;p22"/>
          <p:cNvSpPr/>
          <p:nvPr/>
        </p:nvSpPr>
        <p:spPr>
          <a:xfrm>
            <a:off x="11477625" y="745033"/>
            <a:ext cx="47625"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3"/>
          <p:cNvSpPr txBox="1"/>
          <p:nvPr/>
        </p:nvSpPr>
        <p:spPr>
          <a:xfrm flipH="1" rot="10800000">
            <a:off x="2930225" y="600975"/>
            <a:ext cx="3491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20" name="Google Shape;220;p23"/>
          <p:cNvSpPr txBox="1"/>
          <p:nvPr/>
        </p:nvSpPr>
        <p:spPr>
          <a:xfrm>
            <a:off x="3013375" y="2275600"/>
            <a:ext cx="8972700" cy="36219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b="1" lang="en-US">
                <a:solidFill>
                  <a:srgbClr val="666666"/>
                </a:solidFill>
                <a:latin typeface="Cairo"/>
                <a:ea typeface="Cairo"/>
                <a:cs typeface="Cairo"/>
                <a:sym typeface="Cairo"/>
              </a:rPr>
              <a:t>  المثال الأول: الأمر السيئ  </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Clr>
                <a:schemeClr val="dk1"/>
              </a:buClr>
              <a:buSzPts val="1100"/>
              <a:buFont typeface="Arial"/>
              <a:buNone/>
            </a:pPr>
            <a:r>
              <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Clr>
                <a:schemeClr val="dk1"/>
              </a:buClr>
              <a:buSzPts val="1100"/>
              <a:buFont typeface="Arial"/>
              <a:buNone/>
            </a:pPr>
            <a:r>
              <a:rPr b="1" lang="en-US">
                <a:solidFill>
                  <a:schemeClr val="dk2"/>
                </a:solidFill>
                <a:latin typeface="Cairo"/>
                <a:ea typeface="Cairo"/>
                <a:cs typeface="Cairo"/>
                <a:sym typeface="Cairo"/>
              </a:rPr>
              <a:t>"اكتب لي بريدًا إلكترونيًا لمديري أطلب فيه ترقية."</a:t>
            </a:r>
            <a:endParaRPr b="1">
              <a:solidFill>
                <a:schemeClr val="dk2"/>
              </a:solidFill>
              <a:latin typeface="Cairo"/>
              <a:ea typeface="Cairo"/>
              <a:cs typeface="Cairo"/>
              <a:sym typeface="Cairo"/>
            </a:endParaRPr>
          </a:p>
          <a:p>
            <a:pPr indent="0" lvl="0" marL="0" rtl="0" algn="r">
              <a:lnSpc>
                <a:spcPct val="115000"/>
              </a:lnSpc>
              <a:spcBef>
                <a:spcPts val="0"/>
              </a:spcBef>
              <a:spcAft>
                <a:spcPts val="0"/>
              </a:spcAft>
              <a:buNone/>
            </a:pPr>
            <a:r>
              <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Clr>
                <a:schemeClr val="dk1"/>
              </a:buClr>
              <a:buSzPts val="1100"/>
              <a:buFont typeface="Arial"/>
              <a:buNone/>
            </a:pPr>
            <a:r>
              <a:rPr b="1" lang="en-US">
                <a:solidFill>
                  <a:srgbClr val="666666"/>
                </a:solidFill>
                <a:latin typeface="Cairo"/>
                <a:ea typeface="Cairo"/>
                <a:cs typeface="Cairo"/>
                <a:sym typeface="Cairo"/>
              </a:rPr>
              <a:t> </a:t>
            </a:r>
            <a:r>
              <a:rPr b="1" lang="en-US">
                <a:solidFill>
                  <a:srgbClr val="666666"/>
                </a:solidFill>
                <a:latin typeface="Cairo"/>
                <a:ea typeface="Cairo"/>
                <a:cs typeface="Cairo"/>
                <a:sym typeface="Cairo"/>
              </a:rPr>
              <a:t> لماذا يُعد هذا الأمر سيئاً؟ </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None/>
            </a:pPr>
            <a:r>
              <a:rPr b="1" lang="en-US">
                <a:solidFill>
                  <a:srgbClr val="666666"/>
                </a:solidFill>
                <a:latin typeface="Cairo"/>
                <a:ea typeface="Cairo"/>
                <a:cs typeface="Cairo"/>
                <a:sym typeface="Cairo"/>
              </a:rPr>
              <a:t>عام جدا (Too Generic):</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None/>
            </a:pPr>
            <a:r>
              <a:rPr b="1" lang="en-US">
                <a:solidFill>
                  <a:srgbClr val="666666"/>
                </a:solidFill>
                <a:latin typeface="Cairo"/>
                <a:ea typeface="Cairo"/>
                <a:cs typeface="Cairo"/>
                <a:sym typeface="Cairo"/>
              </a:rPr>
              <a:t> لا يعرف الذكاء الاصطناعي ما هو مجالك، كم قضيت من الوقت في الشركة، أو ما هي إنجازاتك.</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Clr>
                <a:schemeClr val="dk1"/>
              </a:buClr>
              <a:buSzPts val="1100"/>
              <a:buFont typeface="Arial"/>
              <a:buNone/>
            </a:pPr>
            <a:r>
              <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None/>
            </a:pPr>
            <a:r>
              <a:rPr b="1" lang="en-US">
                <a:solidFill>
                  <a:srgbClr val="666666"/>
                </a:solidFill>
                <a:latin typeface="Cairo"/>
                <a:ea typeface="Cairo"/>
                <a:cs typeface="Cairo"/>
                <a:sym typeface="Cairo"/>
              </a:rPr>
              <a:t>بدون نبرة محددة (No Tone):</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None/>
            </a:pPr>
            <a:r>
              <a:rPr b="1" lang="en-US">
                <a:solidFill>
                  <a:srgbClr val="666666"/>
                </a:solidFill>
                <a:latin typeface="Cairo"/>
                <a:ea typeface="Cairo"/>
                <a:cs typeface="Cairo"/>
                <a:sym typeface="Cairo"/>
              </a:rPr>
              <a:t> قد تكون النتيجة رسالة تبدو متكبرة، أو على العكس، ضعيفة ومترددة.</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Clr>
                <a:schemeClr val="dk1"/>
              </a:buClr>
              <a:buSzPts val="1100"/>
              <a:buFont typeface="Arial"/>
              <a:buNone/>
            </a:pPr>
            <a:r>
              <a:t/>
            </a:r>
            <a:endParaRPr b="1">
              <a:solidFill>
                <a:srgbClr val="666666"/>
              </a:solidFill>
              <a:latin typeface="Cairo"/>
              <a:ea typeface="Cairo"/>
              <a:cs typeface="Cairo"/>
              <a:sym typeface="Cairo"/>
            </a:endParaRPr>
          </a:p>
          <a:p>
            <a:pPr indent="0" lvl="0" marL="0" rtl="0" algn="r">
              <a:lnSpc>
                <a:spcPct val="115000"/>
              </a:lnSpc>
              <a:spcBef>
                <a:spcPts val="0"/>
              </a:spcBef>
              <a:spcAft>
                <a:spcPts val="0"/>
              </a:spcAft>
              <a:buClr>
                <a:schemeClr val="dk1"/>
              </a:buClr>
              <a:buSzPts val="1100"/>
              <a:buFont typeface="Arial"/>
              <a:buNone/>
            </a:pPr>
            <a:r>
              <a:rPr b="1" lang="en-US">
                <a:solidFill>
                  <a:srgbClr val="666666"/>
                </a:solidFill>
                <a:latin typeface="Cairo"/>
                <a:ea typeface="Cairo"/>
                <a:cs typeface="Cairo"/>
                <a:sym typeface="Cairo"/>
              </a:rPr>
              <a:t>مخرجات عشوائية: سيعطيك قالباً تقليدياً مليئاً بالفراغات والأقواس مثل [أدخل الاسم هنا]، مما يجبرك على إعادة كتابته يدويًا.</a:t>
            </a:r>
            <a:endParaRPr b="1">
              <a:solidFill>
                <a:srgbClr val="666666"/>
              </a:solidFill>
              <a:latin typeface="Cairo"/>
              <a:ea typeface="Cairo"/>
              <a:cs typeface="Cairo"/>
              <a:sym typeface="Cairo"/>
            </a:endParaRPr>
          </a:p>
          <a:p>
            <a:pPr indent="0" lvl="0" marL="457200" rtl="0" algn="r">
              <a:spcBef>
                <a:spcPts val="0"/>
              </a:spcBef>
              <a:spcAft>
                <a:spcPts val="0"/>
              </a:spcAft>
              <a:buNone/>
            </a:pPr>
            <a:r>
              <a:t/>
            </a:r>
            <a:endParaRPr b="1">
              <a:solidFill>
                <a:srgbClr val="666666"/>
              </a:solidFill>
              <a:latin typeface="Cairo"/>
              <a:ea typeface="Cairo"/>
              <a:cs typeface="Cairo"/>
              <a:sym typeface="Cairo"/>
            </a:endParaRPr>
          </a:p>
        </p:txBody>
      </p:sp>
      <p:pic>
        <p:nvPicPr>
          <p:cNvPr id="221" name="Google Shape;221;p23"/>
          <p:cNvPicPr preferRelativeResize="0"/>
          <p:nvPr/>
        </p:nvPicPr>
        <p:blipFill>
          <a:blip r:embed="rId3">
            <a:alphaModFix/>
          </a:blip>
          <a:stretch>
            <a:fillRect/>
          </a:stretch>
        </p:blipFill>
        <p:spPr>
          <a:xfrm>
            <a:off x="110825" y="484900"/>
            <a:ext cx="4461175" cy="4407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4"/>
          <p:cNvSpPr txBox="1"/>
          <p:nvPr/>
        </p:nvSpPr>
        <p:spPr>
          <a:xfrm>
            <a:off x="3823850" y="293750"/>
            <a:ext cx="7948800" cy="45462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800"/>
              </a:spcBef>
              <a:spcAft>
                <a:spcPts val="0"/>
              </a:spcAft>
              <a:buNone/>
            </a:pPr>
            <a:r>
              <a:rPr b="1" lang="en-US" sz="1700">
                <a:solidFill>
                  <a:schemeClr val="dk1"/>
                </a:solidFill>
                <a:latin typeface="Cairo"/>
                <a:ea typeface="Cairo"/>
                <a:cs typeface="Cairo"/>
                <a:sym typeface="Cairo"/>
              </a:rPr>
              <a:t>المثال الثاني: الأمر الممتاز  </a:t>
            </a:r>
            <a:endParaRPr b="1" sz="1700">
              <a:solidFill>
                <a:schemeClr val="dk1"/>
              </a:solidFill>
              <a:latin typeface="Cairo"/>
              <a:ea typeface="Cairo"/>
              <a:cs typeface="Cairo"/>
              <a:sym typeface="Cairo"/>
            </a:endParaRPr>
          </a:p>
          <a:p>
            <a:pPr indent="0" lvl="0" marL="0" rtl="0" algn="r">
              <a:lnSpc>
                <a:spcPct val="115000"/>
              </a:lnSpc>
              <a:spcBef>
                <a:spcPts val="1200"/>
              </a:spcBef>
              <a:spcAft>
                <a:spcPts val="0"/>
              </a:spcAft>
              <a:buNone/>
            </a:pPr>
            <a:r>
              <a:rPr b="1" lang="en-US" sz="1100">
                <a:solidFill>
                  <a:schemeClr val="dk1"/>
                </a:solidFill>
                <a:latin typeface="Cairo"/>
                <a:ea typeface="Cairo"/>
                <a:cs typeface="Cairo"/>
                <a:sym typeface="Cairo"/>
              </a:rPr>
              <a:t>الدور (Role):</a:t>
            </a:r>
            <a:r>
              <a:rPr lang="en-US" sz="1100">
                <a:solidFill>
                  <a:schemeClr val="dk1"/>
                </a:solidFill>
                <a:latin typeface="Cairo"/>
                <a:ea typeface="Cairo"/>
                <a:cs typeface="Cairo"/>
                <a:sym typeface="Cairo"/>
              </a:rPr>
              <a:t> </a:t>
            </a:r>
            <a:endParaRPr sz="1100">
              <a:solidFill>
                <a:schemeClr val="dk1"/>
              </a:solidFill>
              <a:latin typeface="Cairo"/>
              <a:ea typeface="Cairo"/>
              <a:cs typeface="Cairo"/>
              <a:sym typeface="Cairo"/>
            </a:endParaRPr>
          </a:p>
          <a:p>
            <a:pPr indent="0" lvl="0" marL="0" rtl="0" algn="r">
              <a:lnSpc>
                <a:spcPct val="115000"/>
              </a:lnSpc>
              <a:spcBef>
                <a:spcPts val="1200"/>
              </a:spcBef>
              <a:spcAft>
                <a:spcPts val="0"/>
              </a:spcAft>
              <a:buNone/>
            </a:pPr>
            <a:r>
              <a:rPr lang="en-US" sz="1100">
                <a:solidFill>
                  <a:schemeClr val="dk1"/>
                </a:solidFill>
                <a:latin typeface="Cairo"/>
                <a:ea typeface="Cairo"/>
                <a:cs typeface="Cairo"/>
                <a:sym typeface="Cairo"/>
              </a:rPr>
              <a:t>تقمص دور مستشار اتصالات مؤسسية وخبير في كتابة النصوص الاحترافية.</a:t>
            </a:r>
            <a:endParaRPr sz="1100">
              <a:solidFill>
                <a:schemeClr val="dk1"/>
              </a:solidFill>
              <a:latin typeface="Cairo"/>
              <a:ea typeface="Cairo"/>
              <a:cs typeface="Cairo"/>
              <a:sym typeface="Cairo"/>
            </a:endParaRPr>
          </a:p>
          <a:p>
            <a:pPr indent="0" lvl="0" marL="0" rtl="0" algn="r">
              <a:lnSpc>
                <a:spcPct val="115000"/>
              </a:lnSpc>
              <a:spcBef>
                <a:spcPts val="1200"/>
              </a:spcBef>
              <a:spcAft>
                <a:spcPts val="0"/>
              </a:spcAft>
              <a:buNone/>
            </a:pPr>
            <a:r>
              <a:rPr b="1" lang="en-US" sz="1100">
                <a:solidFill>
                  <a:schemeClr val="dk1"/>
                </a:solidFill>
                <a:latin typeface="Cairo"/>
                <a:ea typeface="Cairo"/>
                <a:cs typeface="Cairo"/>
                <a:sym typeface="Cairo"/>
              </a:rPr>
              <a:t>السياق (Context):</a:t>
            </a:r>
            <a:endParaRPr b="1" sz="1100">
              <a:solidFill>
                <a:schemeClr val="dk1"/>
              </a:solidFill>
              <a:latin typeface="Cairo"/>
              <a:ea typeface="Cairo"/>
              <a:cs typeface="Cairo"/>
              <a:sym typeface="Cairo"/>
            </a:endParaRPr>
          </a:p>
          <a:p>
            <a:pPr indent="0" lvl="0" marL="0" rtl="0" algn="r">
              <a:lnSpc>
                <a:spcPct val="115000"/>
              </a:lnSpc>
              <a:spcBef>
                <a:spcPts val="1200"/>
              </a:spcBef>
              <a:spcAft>
                <a:spcPts val="0"/>
              </a:spcAft>
              <a:buNone/>
            </a:pPr>
            <a:r>
              <a:rPr lang="en-US" sz="1100">
                <a:solidFill>
                  <a:schemeClr val="dk1"/>
                </a:solidFill>
                <a:latin typeface="Cairo"/>
                <a:ea typeface="Cairo"/>
                <a:cs typeface="Cairo"/>
                <a:sym typeface="Cairo"/>
              </a:rPr>
              <a:t> أريد كتابة بريد إلكتروني لمديرتي المباشرة (سارة)، لطلب اجتماع رسمي لمناقشة ترقيتي إلى وظيفة "أخصائي تسويق أول". أنا أعمل في الشركة منذ سنتين، وقمت مؤخراً بقيادة حملة إعلانية نجحت في زيادة المبيعات المحتملة للقسم بنسبة 25%.</a:t>
            </a:r>
            <a:endParaRPr sz="1100">
              <a:solidFill>
                <a:schemeClr val="dk1"/>
              </a:solidFill>
              <a:latin typeface="Cairo"/>
              <a:ea typeface="Cairo"/>
              <a:cs typeface="Cairo"/>
              <a:sym typeface="Cairo"/>
            </a:endParaRPr>
          </a:p>
          <a:p>
            <a:pPr indent="0" lvl="0" marL="0" rtl="0" algn="r">
              <a:lnSpc>
                <a:spcPct val="115000"/>
              </a:lnSpc>
              <a:spcBef>
                <a:spcPts val="1200"/>
              </a:spcBef>
              <a:spcAft>
                <a:spcPts val="0"/>
              </a:spcAft>
              <a:buNone/>
            </a:pPr>
            <a:r>
              <a:rPr b="1" lang="en-US" sz="1100">
                <a:solidFill>
                  <a:schemeClr val="dk1"/>
                </a:solidFill>
                <a:latin typeface="Cairo"/>
                <a:ea typeface="Cairo"/>
                <a:cs typeface="Cairo"/>
                <a:sym typeface="Cairo"/>
              </a:rPr>
              <a:t>القيود والتنسيق (Constraints &amp; Format):</a:t>
            </a:r>
            <a:endParaRPr b="1" sz="1100">
              <a:solidFill>
                <a:schemeClr val="dk1"/>
              </a:solidFill>
              <a:latin typeface="Cairo"/>
              <a:ea typeface="Cairo"/>
              <a:cs typeface="Cairo"/>
              <a:sym typeface="Cairo"/>
            </a:endParaRPr>
          </a:p>
          <a:p>
            <a:pPr indent="-298450" lvl="0" marL="457200" rtl="0" algn="r">
              <a:lnSpc>
                <a:spcPct val="115000"/>
              </a:lnSpc>
              <a:spcBef>
                <a:spcPts val="1200"/>
              </a:spcBef>
              <a:spcAft>
                <a:spcPts val="0"/>
              </a:spcAft>
              <a:buClr>
                <a:schemeClr val="dk1"/>
              </a:buClr>
              <a:buSzPts val="1100"/>
              <a:buAutoNum type="arabicPeriod"/>
            </a:pPr>
            <a:r>
              <a:rPr b="1" lang="en-US" sz="1100">
                <a:solidFill>
                  <a:schemeClr val="dk1"/>
                </a:solidFill>
                <a:latin typeface="Cairo"/>
                <a:ea typeface="Cairo"/>
                <a:cs typeface="Cairo"/>
                <a:sym typeface="Cairo"/>
              </a:rPr>
              <a:t>النبرة:</a:t>
            </a:r>
            <a:r>
              <a:rPr lang="en-US" sz="1100">
                <a:solidFill>
                  <a:schemeClr val="dk1"/>
                </a:solidFill>
                <a:latin typeface="Cairo"/>
                <a:ea typeface="Cairo"/>
                <a:cs typeface="Cairo"/>
                <a:sym typeface="Cairo"/>
              </a:rPr>
              <a:t> واثقة، محترمة، ومهنية للغاية.</a:t>
            </a:r>
            <a:endParaRPr sz="1100">
              <a:solidFill>
                <a:schemeClr val="dk1"/>
              </a:solidFill>
              <a:latin typeface="Cairo"/>
              <a:ea typeface="Cairo"/>
              <a:cs typeface="Cairo"/>
              <a:sym typeface="Cairo"/>
            </a:endParaRPr>
          </a:p>
          <a:p>
            <a:pPr indent="-298450" lvl="0" marL="457200" rtl="0" algn="r">
              <a:lnSpc>
                <a:spcPct val="115000"/>
              </a:lnSpc>
              <a:spcBef>
                <a:spcPts val="0"/>
              </a:spcBef>
              <a:spcAft>
                <a:spcPts val="0"/>
              </a:spcAft>
              <a:buClr>
                <a:schemeClr val="dk1"/>
              </a:buClr>
              <a:buSzPts val="1100"/>
              <a:buAutoNum type="arabicPeriod"/>
            </a:pPr>
            <a:r>
              <a:rPr b="1" lang="en-US" sz="1100">
                <a:solidFill>
                  <a:schemeClr val="dk1"/>
                </a:solidFill>
                <a:latin typeface="Cairo"/>
                <a:ea typeface="Cairo"/>
                <a:cs typeface="Cairo"/>
                <a:sym typeface="Cairo"/>
              </a:rPr>
              <a:t>الهيكل:</a:t>
            </a:r>
            <a:r>
              <a:rPr lang="en-US" sz="1100">
                <a:solidFill>
                  <a:schemeClr val="dk1"/>
                </a:solidFill>
                <a:latin typeface="Cairo"/>
                <a:ea typeface="Cairo"/>
                <a:cs typeface="Cairo"/>
                <a:sym typeface="Cairo"/>
              </a:rPr>
              <a:t> اجعل الرسالة مختصرة (أقل من 150 كلمة). تتضمن عنوان موضوع واضح، وإشارة سريعة لإنجاز الـ 25% لإثارة اهتمامها، ثم طلبًا مباشرًا لعقد اجتماع مدته 15 دقيقة يوم الثلاثاء القادم.</a:t>
            </a:r>
            <a:endParaRPr sz="1100">
              <a:solidFill>
                <a:schemeClr val="dk1"/>
              </a:solidFill>
              <a:latin typeface="Cairo"/>
              <a:ea typeface="Cairo"/>
              <a:cs typeface="Cairo"/>
              <a:sym typeface="Cairo"/>
            </a:endParaRPr>
          </a:p>
          <a:p>
            <a:pPr indent="-298450" lvl="0" marL="457200" rtl="0" algn="r">
              <a:lnSpc>
                <a:spcPct val="115000"/>
              </a:lnSpc>
              <a:spcBef>
                <a:spcPts val="0"/>
              </a:spcBef>
              <a:spcAft>
                <a:spcPts val="0"/>
              </a:spcAft>
              <a:buClr>
                <a:schemeClr val="dk1"/>
              </a:buClr>
              <a:buSzPts val="1100"/>
              <a:buAutoNum type="arabicPeriod"/>
            </a:pPr>
            <a:r>
              <a:rPr b="1" lang="en-US" sz="1100">
                <a:solidFill>
                  <a:schemeClr val="dk1"/>
                </a:solidFill>
                <a:latin typeface="Cairo"/>
                <a:ea typeface="Cairo"/>
                <a:cs typeface="Cairo"/>
                <a:sym typeface="Cairo"/>
              </a:rPr>
              <a:t>تجنب:</a:t>
            </a:r>
            <a:r>
              <a:rPr lang="en-US" sz="1100">
                <a:solidFill>
                  <a:schemeClr val="dk1"/>
                </a:solidFill>
                <a:latin typeface="Cairo"/>
                <a:ea typeface="Cairo"/>
                <a:cs typeface="Cairo"/>
                <a:sym typeface="Cairo"/>
              </a:rPr>
              <a:t> ألا تبدو الرسالة وكأنها فرض أمر واقع أو استحقاق إجباري.</a:t>
            </a:r>
            <a:endParaRPr sz="1100">
              <a:solidFill>
                <a:schemeClr val="dk1"/>
              </a:solidFill>
              <a:latin typeface="Cairo"/>
              <a:ea typeface="Cairo"/>
              <a:cs typeface="Cairo"/>
              <a:sym typeface="Cairo"/>
            </a:endParaRPr>
          </a:p>
          <a:p>
            <a:pPr indent="0" lvl="0" marL="0" rtl="0" algn="r">
              <a:lnSpc>
                <a:spcPct val="115000"/>
              </a:lnSpc>
              <a:spcBef>
                <a:spcPts val="1200"/>
              </a:spcBef>
              <a:spcAft>
                <a:spcPts val="0"/>
              </a:spcAft>
              <a:buNone/>
            </a:pPr>
            <a:r>
              <a:rPr b="1" lang="en-US" sz="1100">
                <a:solidFill>
                  <a:schemeClr val="dk1"/>
                </a:solidFill>
                <a:latin typeface="Cairo"/>
                <a:ea typeface="Cairo"/>
                <a:cs typeface="Cairo"/>
                <a:sym typeface="Cairo"/>
              </a:rPr>
              <a:t>مثال على الأسلوب المطلوب (Example):</a:t>
            </a:r>
            <a:r>
              <a:rPr lang="en-US" sz="1100">
                <a:solidFill>
                  <a:schemeClr val="dk1"/>
                </a:solidFill>
                <a:latin typeface="Cairo"/>
                <a:ea typeface="Cairo"/>
                <a:cs typeface="Cairo"/>
                <a:sym typeface="Cairo"/>
              </a:rPr>
              <a:t> </a:t>
            </a:r>
            <a:endParaRPr sz="1100">
              <a:solidFill>
                <a:schemeClr val="dk1"/>
              </a:solidFill>
              <a:latin typeface="Cairo"/>
              <a:ea typeface="Cairo"/>
              <a:cs typeface="Cairo"/>
              <a:sym typeface="Cairo"/>
            </a:endParaRPr>
          </a:p>
          <a:p>
            <a:pPr indent="0" lvl="0" marL="0" rtl="0" algn="r">
              <a:lnSpc>
                <a:spcPct val="115000"/>
              </a:lnSpc>
              <a:spcBef>
                <a:spcPts val="1200"/>
              </a:spcBef>
              <a:spcAft>
                <a:spcPts val="0"/>
              </a:spcAft>
              <a:buNone/>
            </a:pPr>
            <a:r>
              <a:rPr lang="en-US" sz="1100">
                <a:solidFill>
                  <a:schemeClr val="dk1"/>
                </a:solidFill>
                <a:latin typeface="Cairo"/>
                <a:ea typeface="Cairo"/>
                <a:cs typeface="Cairo"/>
                <a:sym typeface="Cairo"/>
              </a:rPr>
              <a:t>استخدم عبارة تشبه: </a:t>
            </a:r>
            <a:r>
              <a:rPr i="1" lang="en-US" sz="1100">
                <a:solidFill>
                  <a:schemeClr val="dk1"/>
                </a:solidFill>
                <a:latin typeface="Cairo"/>
                <a:ea typeface="Cairo"/>
                <a:cs typeface="Cairo"/>
                <a:sym typeface="Cairo"/>
              </a:rPr>
              <a:t>"أود مناقشة كيف يمكنني تحمل مسؤوليات استراتيجية أكبر لمساعدة الفريق على تحقيق المزيد من النمو".</a:t>
            </a:r>
            <a:endParaRPr i="1" sz="1100">
              <a:solidFill>
                <a:schemeClr val="dk1"/>
              </a:solidFill>
              <a:latin typeface="Cairo"/>
              <a:ea typeface="Cairo"/>
              <a:cs typeface="Cairo"/>
              <a:sym typeface="Cairo"/>
            </a:endParaRPr>
          </a:p>
          <a:p>
            <a:pPr indent="0" lvl="0" marL="0" rtl="0" algn="r">
              <a:lnSpc>
                <a:spcPct val="115000"/>
              </a:lnSpc>
              <a:spcBef>
                <a:spcPts val="1800"/>
              </a:spcBef>
              <a:spcAft>
                <a:spcPts val="400"/>
              </a:spcAft>
              <a:buNone/>
            </a:pPr>
            <a:r>
              <a:t/>
            </a:r>
            <a:endParaRPr b="1" sz="1700">
              <a:solidFill>
                <a:schemeClr val="dk1"/>
              </a:solidFill>
              <a:latin typeface="Cairo"/>
              <a:ea typeface="Cairo"/>
              <a:cs typeface="Cairo"/>
              <a:sym typeface="Cairo"/>
            </a:endParaRPr>
          </a:p>
        </p:txBody>
      </p:sp>
      <p:graphicFrame>
        <p:nvGraphicFramePr>
          <p:cNvPr id="227" name="Google Shape;227;p24"/>
          <p:cNvGraphicFramePr/>
          <p:nvPr/>
        </p:nvGraphicFramePr>
        <p:xfrm>
          <a:off x="1609725" y="5081150"/>
          <a:ext cx="3000000" cy="3000000"/>
        </p:xfrm>
        <a:graphic>
          <a:graphicData uri="http://schemas.openxmlformats.org/drawingml/2006/table">
            <a:tbl>
              <a:tblPr>
                <a:noFill/>
                <a:tableStyleId>{005CFBDC-0489-4317-B2A6-3C4616E7497C}</a:tableStyleId>
              </a:tblPr>
              <a:tblGrid>
                <a:gridCol w="1695450"/>
                <a:gridCol w="3343275"/>
                <a:gridCol w="3933825"/>
              </a:tblGrid>
              <a:tr h="342900">
                <a:tc>
                  <a:txBody>
                    <a:bodyPr/>
                    <a:lstStyle/>
                    <a:p>
                      <a:pPr indent="0" lvl="0" marL="0" rtl="1" algn="r">
                        <a:lnSpc>
                          <a:spcPct val="115000"/>
                        </a:lnSpc>
                        <a:spcBef>
                          <a:spcPts val="0"/>
                        </a:spcBef>
                        <a:spcAft>
                          <a:spcPts val="0"/>
                        </a:spcAft>
                        <a:buNone/>
                      </a:pPr>
                      <a:r>
                        <a:rPr b="1" lang="en-US" sz="1100">
                          <a:solidFill>
                            <a:srgbClr val="1F1F1F"/>
                          </a:solidFill>
                        </a:rPr>
                        <a:t>وجه المقارنة</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1" algn="r">
                        <a:lnSpc>
                          <a:spcPct val="115000"/>
                        </a:lnSpc>
                        <a:spcBef>
                          <a:spcPts val="0"/>
                        </a:spcBef>
                        <a:spcAft>
                          <a:spcPts val="0"/>
                        </a:spcAft>
                        <a:buNone/>
                      </a:pPr>
                      <a:r>
                        <a:rPr b="1" lang="en-US" sz="1100">
                          <a:solidFill>
                            <a:srgbClr val="1F1F1F"/>
                          </a:solidFill>
                        </a:rPr>
                        <a:t>الأمر السيئ (Bad Prompt)</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1" algn="r">
                        <a:lnSpc>
                          <a:spcPct val="115000"/>
                        </a:lnSpc>
                        <a:spcBef>
                          <a:spcPts val="0"/>
                        </a:spcBef>
                        <a:spcAft>
                          <a:spcPts val="0"/>
                        </a:spcAft>
                        <a:buNone/>
                      </a:pPr>
                      <a:r>
                        <a:rPr b="1" lang="en-US" sz="1100">
                          <a:solidFill>
                            <a:srgbClr val="1F1F1F"/>
                          </a:solidFill>
                        </a:rPr>
                        <a:t>الأمر الممتاز (Good Prompt)</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r>
              <a:tr h="342900">
                <a:tc>
                  <a:txBody>
                    <a:bodyPr/>
                    <a:lstStyle/>
                    <a:p>
                      <a:pPr indent="0" lvl="0" marL="0" rtl="1" algn="r">
                        <a:lnSpc>
                          <a:spcPct val="115000"/>
                        </a:lnSpc>
                        <a:spcBef>
                          <a:spcPts val="0"/>
                        </a:spcBef>
                        <a:spcAft>
                          <a:spcPts val="0"/>
                        </a:spcAft>
                        <a:buNone/>
                      </a:pPr>
                      <a:r>
                        <a:rPr b="1" lang="en-US" sz="1100">
                          <a:solidFill>
                            <a:srgbClr val="1F1F1F"/>
                          </a:solidFill>
                        </a:rPr>
                        <a:t>النتيجة من الذكاء الاصطناعي</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US" sz="1100">
                          <a:solidFill>
                            <a:srgbClr val="1F1F1F"/>
                          </a:solidFill>
                        </a:rPr>
                        <a:t>نص روتيني، جاف، ومليء بالأقواس الفارغة التي تحتاج لتعديل.</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US" sz="1100">
                          <a:solidFill>
                            <a:srgbClr val="1F1F1F"/>
                          </a:solidFill>
                        </a:rPr>
                        <a:t>رسالة جاهزة للإرسال فوراً، مصممة خصيصاً للمديرة وسياق الشركة الفعلي.</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342900">
                <a:tc>
                  <a:txBody>
                    <a:bodyPr/>
                    <a:lstStyle/>
                    <a:p>
                      <a:pPr indent="0" lvl="0" marL="0" rtl="1" algn="r">
                        <a:lnSpc>
                          <a:spcPct val="115000"/>
                        </a:lnSpc>
                        <a:spcBef>
                          <a:spcPts val="0"/>
                        </a:spcBef>
                        <a:spcAft>
                          <a:spcPts val="0"/>
                        </a:spcAft>
                        <a:buNone/>
                      </a:pPr>
                      <a:r>
                        <a:rPr b="1" lang="en-US" sz="1100">
                          <a:solidFill>
                            <a:srgbClr val="1F1F1F"/>
                          </a:solidFill>
                        </a:rPr>
                        <a:t>الوقت المستغرق في التعديل</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US" sz="1100">
                          <a:solidFill>
                            <a:srgbClr val="1F1F1F"/>
                          </a:solidFill>
                        </a:rPr>
                        <a:t>طويل (ستعيد كتابة نصف الرسالة بنفسك لتناسب واقعك).</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US" sz="1100">
                          <a:solidFill>
                            <a:srgbClr val="1F1F1F"/>
                          </a:solidFill>
                        </a:rPr>
                        <a:t>قصير جداً (تعديلات طفيفة لا تستغرق ثوانٍ).</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342900">
                <a:tc>
                  <a:txBody>
                    <a:bodyPr/>
                    <a:lstStyle/>
                    <a:p>
                      <a:pPr indent="0" lvl="0" marL="0" rtl="1" algn="r">
                        <a:lnSpc>
                          <a:spcPct val="115000"/>
                        </a:lnSpc>
                        <a:spcBef>
                          <a:spcPts val="0"/>
                        </a:spcBef>
                        <a:spcAft>
                          <a:spcPts val="0"/>
                        </a:spcAft>
                        <a:buNone/>
                      </a:pPr>
                      <a:r>
                        <a:rPr b="1" lang="en-US" sz="1100">
                          <a:solidFill>
                            <a:srgbClr val="1F1F1F"/>
                          </a:solidFill>
                        </a:rPr>
                        <a:t>العناصر المستخدمة</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US" sz="1100">
                          <a:solidFill>
                            <a:srgbClr val="1F1F1F"/>
                          </a:solidFill>
                        </a:rPr>
                        <a:t>فكرة مجردة وعشوائية فقط.</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US" sz="1100">
                          <a:solidFill>
                            <a:srgbClr val="1F1F1F"/>
                          </a:solidFill>
                        </a:rPr>
                        <a:t>تم استخدام صيغة هندسة الأوامر: </a:t>
                      </a:r>
                      <a:r>
                        <a:rPr b="1" lang="en-US" sz="1100">
                          <a:solidFill>
                            <a:srgbClr val="1F1F1F"/>
                          </a:solidFill>
                        </a:rPr>
                        <a:t>الدور</a:t>
                      </a:r>
                      <a:r>
                        <a:rPr lang="en-US" sz="1100">
                          <a:solidFill>
                            <a:srgbClr val="1F1F1F"/>
                          </a:solidFill>
                        </a:rPr>
                        <a:t>، </a:t>
                      </a:r>
                      <a:r>
                        <a:rPr b="1" lang="en-US" sz="1100">
                          <a:solidFill>
                            <a:srgbClr val="1F1F1F"/>
                          </a:solidFill>
                        </a:rPr>
                        <a:t>السياق</a:t>
                      </a:r>
                      <a:r>
                        <a:rPr lang="en-US" sz="1100">
                          <a:solidFill>
                            <a:srgbClr val="1F1F1F"/>
                          </a:solidFill>
                        </a:rPr>
                        <a:t>، </a:t>
                      </a:r>
                      <a:r>
                        <a:rPr b="1" lang="en-US" sz="1100">
                          <a:solidFill>
                            <a:srgbClr val="1F1F1F"/>
                          </a:solidFill>
                        </a:rPr>
                        <a:t>القيود</a:t>
                      </a:r>
                      <a:r>
                        <a:rPr lang="en-US" sz="1100">
                          <a:solidFill>
                            <a:srgbClr val="1F1F1F"/>
                          </a:solidFill>
                        </a:rPr>
                        <a:t>، </a:t>
                      </a:r>
                      <a:r>
                        <a:rPr b="1" lang="en-US" sz="1100">
                          <a:solidFill>
                            <a:srgbClr val="1F1F1F"/>
                          </a:solidFill>
                        </a:rPr>
                        <a:t>والمثال</a:t>
                      </a:r>
                      <a:r>
                        <a:rPr lang="en-US" sz="1100">
                          <a:solidFill>
                            <a:srgbClr val="1F1F1F"/>
                          </a:solidFill>
                        </a:rPr>
                        <a:t>.</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pic>
        <p:nvPicPr>
          <p:cNvPr id="228" name="Google Shape;228;p24"/>
          <p:cNvPicPr preferRelativeResize="0"/>
          <p:nvPr/>
        </p:nvPicPr>
        <p:blipFill>
          <a:blip r:embed="rId3">
            <a:alphaModFix/>
          </a:blip>
          <a:stretch>
            <a:fillRect/>
          </a:stretch>
        </p:blipFill>
        <p:spPr>
          <a:xfrm>
            <a:off x="225250" y="827775"/>
            <a:ext cx="3171825" cy="3133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pic>
        <p:nvPicPr>
          <p:cNvPr descr="image.png" id="233" name="Google Shape;233;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4" name="Google Shape;234;p25"/>
          <p:cNvPicPr preferRelativeResize="0"/>
          <p:nvPr/>
        </p:nvPicPr>
        <p:blipFill rotWithShape="1">
          <a:blip r:embed="rId4">
            <a:alphaModFix/>
          </a:blip>
          <a:srcRect b="0" l="0" r="0" t="0"/>
          <a:stretch/>
        </p:blipFill>
        <p:spPr>
          <a:xfrm>
            <a:off x="666750" y="1630858"/>
            <a:ext cx="10858500" cy="4750891"/>
          </a:xfrm>
          <a:prstGeom prst="rect">
            <a:avLst/>
          </a:prstGeom>
          <a:noFill/>
          <a:ln>
            <a:noFill/>
          </a:ln>
        </p:spPr>
      </p:pic>
      <p:sp>
        <p:nvSpPr>
          <p:cNvPr id="235" name="Google Shape;235;p25"/>
          <p:cNvSpPr txBox="1"/>
          <p:nvPr/>
        </p:nvSpPr>
        <p:spPr>
          <a:xfrm>
            <a:off x="666750" y="4787354"/>
            <a:ext cx="10858500" cy="22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200" u="none" cap="none" strike="noStrike">
                <a:solidFill>
                  <a:srgbClr val="475569"/>
                </a:solidFill>
                <a:latin typeface="Cairo"/>
                <a:ea typeface="Cairo"/>
                <a:cs typeface="Cairo"/>
                <a:sym typeface="Cairo"/>
              </a:rPr>
              <a:t>مخطط توضيحي مبني على الاختبارات العملية القياسية لقياس الكفاءة التخصصية لكل نموذج من العمالقة الثلاثة.</a:t>
            </a:r>
            <a:endParaRPr/>
          </a:p>
        </p:txBody>
      </p:sp>
      <p:sp>
        <p:nvSpPr>
          <p:cNvPr id="236" name="Google Shape;236;p25"/>
          <p:cNvSpPr txBox="1"/>
          <p:nvPr/>
        </p:nvSpPr>
        <p:spPr>
          <a:xfrm>
            <a:off x="130968" y="745033"/>
            <a:ext cx="11251406" cy="6000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550" u="none" cap="none" strike="noStrike">
                <a:solidFill>
                  <a:srgbClr val="0F172A"/>
                </a:solidFill>
                <a:latin typeface="Cairo"/>
                <a:ea typeface="Cairo"/>
                <a:cs typeface="Cairo"/>
                <a:sym typeface="Cairo"/>
              </a:rPr>
              <a:t>دقة أداء النماذج في المهام التخصصية</a:t>
            </a:r>
            <a:endParaRPr/>
          </a:p>
        </p:txBody>
      </p:sp>
      <p:sp>
        <p:nvSpPr>
          <p:cNvPr id="237" name="Google Shape;237;p25"/>
          <p:cNvSpPr/>
          <p:nvPr/>
        </p:nvSpPr>
        <p:spPr>
          <a:xfrm>
            <a:off x="11477625" y="745033"/>
            <a:ext cx="47625" cy="6000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9"/>
        </a:solidFill>
      </p:bgPr>
    </p:bg>
    <p:spTree>
      <p:nvGrpSpPr>
        <p:cNvPr id="241" name="Shape 241"/>
        <p:cNvGrpSpPr/>
        <p:nvPr/>
      </p:nvGrpSpPr>
      <p:grpSpPr>
        <a:xfrm>
          <a:off x="0" y="0"/>
          <a:ext cx="0" cy="0"/>
          <a:chOff x="0" y="0"/>
          <a:chExt cx="0" cy="0"/>
        </a:xfrm>
      </p:grpSpPr>
      <p:pic>
        <p:nvPicPr>
          <p:cNvPr descr="image.png" id="242" name="Google Shape;24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3" name="Google Shape;243;p26"/>
          <p:cNvSpPr txBox="1"/>
          <p:nvPr/>
        </p:nvSpPr>
        <p:spPr>
          <a:xfrm>
            <a:off x="2452687" y="2266950"/>
            <a:ext cx="7650956" cy="1247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250" u="none" cap="none" strike="noStrike">
                <a:solidFill>
                  <a:srgbClr val="F1F5F9"/>
                </a:solidFill>
                <a:latin typeface="Cairo"/>
                <a:ea typeface="Cairo"/>
                <a:cs typeface="Cairo"/>
                <a:sym typeface="Cairo"/>
              </a:rPr>
              <a:t>الأسئلة والتطبيق العملي</a:t>
            </a:r>
            <a:endParaRPr/>
          </a:p>
        </p:txBody>
      </p:sp>
      <p:sp>
        <p:nvSpPr>
          <p:cNvPr id="244" name="Google Shape;244;p26"/>
          <p:cNvSpPr txBox="1"/>
          <p:nvPr/>
        </p:nvSpPr>
        <p:spPr>
          <a:xfrm>
            <a:off x="2452687" y="4068067"/>
            <a:ext cx="728662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Cairo"/>
                <a:ea typeface="Cairo"/>
                <a:cs typeface="Cairo"/>
                <a:sym typeface="Cairo"/>
              </a:rPr>
              <a:t>حان وقت التطبيق: دعونا نجرب صياغة الأوامر على النماذج الثلاثة معاً ومقارنة النتائج الحية!</a:t>
            </a:r>
            <a:endParaRPr/>
          </a:p>
        </p:txBody>
      </p:sp>
      <p:sp>
        <p:nvSpPr>
          <p:cNvPr id="245" name="Google Shape;245;p26"/>
          <p:cNvSpPr txBox="1"/>
          <p:nvPr/>
        </p:nvSpPr>
        <p:spPr>
          <a:xfrm>
            <a:off x="2452687" y="4830067"/>
            <a:ext cx="7286625"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94A3B8"/>
                </a:solidFill>
                <a:latin typeface="Cairo"/>
                <a:ea typeface="Cairo"/>
                <a:cs typeface="Cairo"/>
                <a:sym typeface="Cairo"/>
              </a:rPr>
              <a:t>شكراً لحضوركم وتفاعلكم الرائع اليوم</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