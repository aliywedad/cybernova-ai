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0.xml"/><Relationship Id="rId21" Type="http://schemas.openxmlformats.org/officeDocument/2006/relationships/slide" Target="slides/slide9.xml"/><Relationship Id="rId20" Type="http://schemas.openxmlformats.org/officeDocument/2006/relationships/slide" Target="slides/slide8.xml"/><Relationship Id="rId2" Type="http://schemas.openxmlformats.org/officeDocument/2006/relationships/theme" Target="theme/theme1.xml"/><Relationship Id="rId19" Type="http://schemas.openxmlformats.org/officeDocument/2006/relationships/slide" Target="slides/slide7.xml"/><Relationship Id="rId18" Type="http://schemas.openxmlformats.org/officeDocument/2006/relationships/slide" Target="slides/slide6.xml"/><Relationship Id="rId17" Type="http://schemas.openxmlformats.org/officeDocument/2006/relationships/slide" Target="slides/slide5.xml"/><Relationship Id="rId16" Type="http://schemas.openxmlformats.org/officeDocument/2006/relationships/slide" Target="slides/slide4.xml"/><Relationship Id="rId15" Type="http://schemas.openxmlformats.org/officeDocument/2006/relationships/slide" Target="slides/slide3.xml"/><Relationship Id="rId14" Type="http://schemas.openxmlformats.org/officeDocument/2006/relationships/slide" Target="slides/slide2.xml"/><Relationship Id="rId13" Type="http://schemas.openxmlformats.org/officeDocument/2006/relationships/slide" Target="slides/slide1.xml"/><Relationship Id="rId12" Type="http://schemas.openxmlformats.org/officeDocument/2006/relationships/slideMaster" Target="slideMasters/slideMaster1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0F56502-A261-40E5-AF95-517797738C7E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496306F-E9CC-4AED-9C0E-4E0CA2D56640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1CA10E08-54FD-4526-85B5-C32B1E6AAC6B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44C9D252-0FDB-48A7-BE48-8AF301E0EB77}" type="slidenum">
              <a:rPr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5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D449A7E7-197D-4881-80C6-E9D70943CC46}" type="slidenum">
              <a:rPr/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BED634E4-80AC-4148-9F8F-356DE22A10A3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5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spcBef>
                <a:spcPts val="1415"/>
              </a:spcBef>
              <a:buNone/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EBB3DCA8-D1FD-403D-ADBE-2E41474C0AA7}" type="slidenum">
              <a:rPr/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D3300E27-E7E8-4A65-9DA6-FD5203CB9463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0CAC6F2-A1AC-4034-889E-324254056AE8}" type="slidenum">
              <a:rPr/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FB7596CB-1A08-466E-8E11-997D51F83087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746E0167-0252-4AE7-B1EF-EC8C772BA0F9}" type="slidenum">
              <a:rPr/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C551847-2052-4AAC-8856-238F7ACA8945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Click to edit the title text format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Click to edit the title text format</a:t>
            </a:r>
            <a:endParaRPr lang="en-US" sz="4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 rot="5400000">
            <a:off x="2309400" y="-251640"/>
            <a:ext cx="4525560" cy="822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4992" lnSpcReduction="20000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D89944-0EFE-49A4-933F-C4BBCF4BAE42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/>
    <p:bodyStyle/>
    <p:otherStyle/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 rot="5400000">
            <a:off x="4732560" y="2171520"/>
            <a:ext cx="5851080" cy="205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Click to edit the title text format</a:t>
            </a:r>
            <a:endParaRPr lang="en-US" sz="4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 rot="5400000">
            <a:off x="541800" y="190080"/>
            <a:ext cx="5851080" cy="601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FBABA0D-FC0F-43B7-88D5-EF294D46C581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/>
    <p:bodyStyle/>
    <p:otherStyle/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Click to edit the title text format</a:t>
            </a:r>
            <a:endParaRPr lang="en-US" sz="4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D70203D-B061-4577-BB6E-83B36D30FF7D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/>
    <p:bodyStyle/>
    <p:otherStyle/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Click to edit the title text format</a:t>
            </a:r>
            <a:endParaRPr lang="en-US" sz="4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816AFF6-FB13-4AB1-8A21-9F486F028BF0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/>
    <p:bodyStyle/>
    <p:otherStyle/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>
              <a:buNone/>
            </a:pPr>
            <a:r>
              <a:rPr lang="en-US" sz="4000" b="0" strike="noStrike" spc="-1">
                <a:solidFill>
                  <a:srgbClr val="000000"/>
                </a:solidFill>
                <a:latin typeface="Arial" panose="020B0604020202020204"/>
              </a:rPr>
              <a:t>Click to edit the title text format</a:t>
            </a:r>
            <a:endParaRPr lang="en-US" sz="40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43472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7AA5536-2CB4-4ACE-9146-F978C8900469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/>
    <p:bodyStyle/>
    <p:otherStyle/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Click to edit the </a:t>
            </a:r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title text format</a:t>
            </a:r>
            <a:endParaRPr lang="en-US" sz="4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4983" lnSpcReduction="20000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4983" lnSpcReduction="20000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2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786259B-F929-4B51-9F6F-87EABDE6796E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/>
    <p:bodyStyle/>
    <p:otherStyle/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Click to edit the title text format</a:t>
            </a:r>
            <a:endParaRPr lang="en-US" sz="4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6247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4970" lnSpcReduction="10000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6247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4970" lnSpcReduction="10000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2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48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49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D207A03-BB3A-49E9-B1F6-40BE6F2B97EB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/>
    <p:bodyStyle/>
    <p:otherStyle/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>
              <a:buNone/>
            </a:pPr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Click to edit the title text format</a:t>
            </a:r>
            <a:endParaRPr lang="en-US" sz="4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EEC1F09-5B57-4823-8935-36CC158CD4A6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/>
    <p:bodyStyle/>
    <p:otherStyle/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Click to edit the title text format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3740" lnSpcReduction="10000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3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4983" lnSpcReduction="20000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15C3F13-295B-4918-9AEC-8D34B3AAA11F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/>
    <p:bodyStyle/>
    <p:otherStyle/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Click to edit the title text format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24994" lnSpcReduction="10000"/>
          </a:bodyPr>
          <a:p>
            <a:pPr marL="431800" indent="-323850"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Click to edit the outline text format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864235" lvl="1" indent="-323850">
              <a:spcBef>
                <a:spcPts val="113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Second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296035" lvl="2" indent="-288290"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Third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27835" lvl="3" indent="-215900">
              <a:spcBef>
                <a:spcPts val="565"/>
              </a:spcBef>
              <a:buClr>
                <a:srgbClr val="000000"/>
              </a:buClr>
              <a:buSzPct val="75000"/>
              <a:buFont typeface="Symbol" panose="05050102010706020507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Fourth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160270" lvl="4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Fifth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2592070" lvl="5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Sixth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3023870" lvl="6" indent="-215900"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Seventh Outline Level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2D3FF4C-D050-42EC-9F7E-088CA24E23D9}" type="slidenum">
              <a:rPr lang="en-US" sz="1200" b="0" strike="noStrike" spc="-1">
                <a:solidFill>
                  <a:srgbClr val="888888"/>
                </a:solidFill>
                <a:latin typeface="Calibri" panose="020F0502020204030204"/>
                <a:ea typeface="Calibri" panose="020F0502020204030204"/>
              </a:rPr>
            </a:fld>
            <a:endParaRPr lang="en-US" sz="12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9.png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2.png"/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84;p13" descr="imag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68" name="Google Shape;85;p13"/>
          <p:cNvSpPr/>
          <p:nvPr/>
        </p:nvSpPr>
        <p:spPr>
          <a:xfrm>
            <a:off x="0" y="0"/>
            <a:ext cx="12191760" cy="11412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9" name="Google Shape;86;p13"/>
          <p:cNvSpPr/>
          <p:nvPr/>
        </p:nvSpPr>
        <p:spPr>
          <a:xfrm>
            <a:off x="1295280" y="2300400"/>
            <a:ext cx="9600840" cy="8229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20000"/>
              </a:lnSpc>
              <a:tabLst>
                <a:tab pos="0" algn="l"/>
              </a:tabLst>
            </a:pPr>
            <a:r>
              <a:rPr lang="hi-IN" sz="450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كيف يتعلم الذكاء الاصطناعي فعلياً؟</a:t>
            </a:r>
            <a:endParaRPr lang="hi-IN" sz="4500" b="1" strike="noStrike" spc="-1">
              <a:solidFill>
                <a:srgbClr val="0F172A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0" name="Google Shape;87;p13"/>
          <p:cNvSpPr/>
          <p:nvPr/>
        </p:nvSpPr>
        <p:spPr>
          <a:xfrm>
            <a:off x="1523880" y="3176640"/>
            <a:ext cx="9143640" cy="508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59000"/>
              </a:lnSpc>
              <a:tabLst>
                <a:tab pos="0" algn="l"/>
              </a:tabLst>
            </a:pPr>
            <a:r>
              <a:rPr lang="en-US" sz="2100" b="0" strike="noStrike" spc="-1">
                <a:solidFill>
                  <a:srgbClr val="64748B"/>
                </a:solidFill>
                <a:latin typeface="Microsoft YaHei" panose="020B0503020204020204" charset="-122"/>
                <a:ea typeface="Microsoft YaHei" panose="020B0503020204020204" charset="-122"/>
              </a:rPr>
              <a:t>How AI Actually Learns</a:t>
            </a:r>
            <a:endParaRPr lang="en-US" sz="2100" b="0" strike="noStrike" spc="-1">
              <a:solidFill>
                <a:srgbClr val="64748B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1" name="Google Shape;88;p13"/>
          <p:cNvSpPr/>
          <p:nvPr/>
        </p:nvSpPr>
        <p:spPr>
          <a:xfrm>
            <a:off x="5524560" y="3889080"/>
            <a:ext cx="1142640" cy="4716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23760" bIns="2376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2" name="Google Shape;89;p13"/>
          <p:cNvSpPr/>
          <p:nvPr/>
        </p:nvSpPr>
        <p:spPr>
          <a:xfrm>
            <a:off x="1523880" y="4222440"/>
            <a:ext cx="9143640" cy="4014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60000"/>
              </a:lnSpc>
              <a:tabLst>
                <a:tab pos="0" algn="l"/>
              </a:tabLst>
            </a:pPr>
            <a:r>
              <a:rPr lang="hi-IN" sz="165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المحاضرة الثانية • </a:t>
            </a:r>
            <a:r>
              <a:rPr lang="en-US" sz="165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90 دقيقة</a:t>
            </a:r>
            <a:r>
              <a:rPr lang="en-US" sz="165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(Class 2 • 90 Min)</a:t>
            </a:r>
            <a:endParaRPr lang="en-US" sz="16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94;p14" descr="imag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pic>
        <p:nvPicPr>
          <p:cNvPr id="74" name="Google Shape;95;p14" descr="imag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762120" y="2185920"/>
            <a:ext cx="5143320" cy="3619080"/>
          </a:xfrm>
          <a:prstGeom prst="rect">
            <a:avLst/>
          </a:prstGeom>
          <a:ln w="0">
            <a:noFill/>
          </a:ln>
        </p:spPr>
      </p:pic>
      <p:sp>
        <p:nvSpPr>
          <p:cNvPr id="75" name="Google Shape;96;p14"/>
          <p:cNvSpPr/>
          <p:nvPr/>
        </p:nvSpPr>
        <p:spPr>
          <a:xfrm>
            <a:off x="0" y="0"/>
            <a:ext cx="12191760" cy="11412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Google Shape;97;p14"/>
          <p:cNvSpPr/>
          <p:nvPr/>
        </p:nvSpPr>
        <p:spPr>
          <a:xfrm>
            <a:off x="6286680" y="2216880"/>
            <a:ext cx="5400360" cy="297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hi-IN" sz="195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كيف يستوعب الذكاء الاصطناعي البيانات؟</a:t>
            </a:r>
            <a:endParaRPr lang="hi-IN" sz="1950" b="0" strike="noStrike" spc="-1">
              <a:solidFill>
                <a:srgbClr val="0F172A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7" name="Google Shape;98;p14"/>
          <p:cNvSpPr/>
          <p:nvPr/>
        </p:nvSpPr>
        <p:spPr>
          <a:xfrm>
            <a:off x="6286680" y="2826360"/>
            <a:ext cx="5143320" cy="691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طالب عبقري: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تخيل الذكاء الاصطناعي كطالب فائق الذكاء يقوم بمطالعة ملايين الكتب، المقالات، والأمثلة المحلولة سابقاً بتركيز غير مسبوق.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8" name="Google Shape;99;p14"/>
          <p:cNvSpPr/>
          <p:nvPr/>
        </p:nvSpPr>
        <p:spPr>
          <a:xfrm>
            <a:off x="6286680" y="3809160"/>
            <a:ext cx="5143320" cy="691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استخلاص الروابط: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هو لا يقوم بحفظ النصوص أو الأرقام حرفياً، بل يدرس العلاقات المشتركة ليستخلص الروابط الخفية والأنماط الهيكلية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(Patterns)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9" name="Google Shape;100;p14"/>
          <p:cNvSpPr/>
          <p:nvPr/>
        </p:nvSpPr>
        <p:spPr>
          <a:xfrm>
            <a:off x="6286680" y="4791960"/>
            <a:ext cx="5143320" cy="691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حل المشكلات الجديدة: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عند الانتهاء من الدراسة، يصبح بمقدور هذا "الطالب الرقمي" حل مسائل جديدة كلياً لم يصادفها قط أثناء مرحلة تدريبه.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80" name="Google Shape;101;p14" descr="imag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71480" y="2195640"/>
            <a:ext cx="5124240" cy="3600000"/>
          </a:xfrm>
          <a:prstGeom prst="rect">
            <a:avLst/>
          </a:prstGeom>
          <a:ln w="0">
            <a:noFill/>
          </a:ln>
        </p:spPr>
      </p:pic>
      <p:sp>
        <p:nvSpPr>
          <p:cNvPr id="81" name="Google Shape;102;p14"/>
          <p:cNvSpPr/>
          <p:nvPr/>
        </p:nvSpPr>
        <p:spPr>
          <a:xfrm>
            <a:off x="237960" y="685800"/>
            <a:ext cx="11000880" cy="434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hi-IN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التشبيه الأساسي لتعلم الآلة</a:t>
            </a:r>
            <a:r>
              <a:rPr lang="en-US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28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(The Learning Analogy)</a:t>
            </a:r>
            <a:endParaRPr lang="en-US" sz="28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2" name="Google Shape;103;p14"/>
          <p:cNvSpPr/>
          <p:nvPr/>
        </p:nvSpPr>
        <p:spPr>
          <a:xfrm>
            <a:off x="11353680" y="685800"/>
            <a:ext cx="75960" cy="68544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108;p15" descr="imag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pic>
        <p:nvPicPr>
          <p:cNvPr id="84" name="Google Shape;109;p15" descr="imag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286680" y="1879560"/>
            <a:ext cx="5143320" cy="4232160"/>
          </a:xfrm>
          <a:prstGeom prst="rect">
            <a:avLst/>
          </a:prstGeom>
          <a:ln w="0">
            <a:noFill/>
          </a:ln>
        </p:spPr>
      </p:pic>
      <p:pic>
        <p:nvPicPr>
          <p:cNvPr id="85" name="Google Shape;110;p15" descr="imag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762120" y="1879560"/>
            <a:ext cx="5143320" cy="4232160"/>
          </a:xfrm>
          <a:prstGeom prst="rect">
            <a:avLst/>
          </a:prstGeom>
          <a:ln w="0">
            <a:noFill/>
          </a:ln>
        </p:spPr>
      </p:pic>
      <p:sp>
        <p:nvSpPr>
          <p:cNvPr id="86" name="Google Shape;111;p15"/>
          <p:cNvSpPr/>
          <p:nvPr/>
        </p:nvSpPr>
        <p:spPr>
          <a:xfrm>
            <a:off x="0" y="0"/>
            <a:ext cx="12191760" cy="11412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7" name="Google Shape;112;p15"/>
          <p:cNvSpPr/>
          <p:nvPr/>
        </p:nvSpPr>
        <p:spPr>
          <a:xfrm>
            <a:off x="6406560" y="3079800"/>
            <a:ext cx="4680360" cy="297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hi-IN" sz="19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التصنيف</a:t>
            </a:r>
            <a:r>
              <a:rPr lang="en-US" sz="19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(Classification)</a:t>
            </a:r>
            <a:endParaRPr lang="en-US" sz="19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8" name="Google Shape;113;p15"/>
          <p:cNvSpPr/>
          <p:nvPr/>
        </p:nvSpPr>
        <p:spPr>
          <a:xfrm>
            <a:off x="6629400" y="3689280"/>
            <a:ext cx="4457520" cy="345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59000"/>
              </a:lnSpc>
              <a:tabLst>
                <a:tab pos="0" algn="l"/>
              </a:tabLst>
            </a:pPr>
            <a:r>
              <a:rPr lang="hi-IN" sz="143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الإجابة هنا تكون عبارة عن فئة محددة أو خيار مستقل</a:t>
            </a:r>
            <a:r>
              <a:rPr lang="en-US" sz="143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: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9" name="Google Shape;114;p15"/>
          <p:cNvSpPr/>
          <p:nvPr/>
        </p:nvSpPr>
        <p:spPr>
          <a:xfrm>
            <a:off x="6629400" y="4093200"/>
            <a:ext cx="4457520" cy="690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59000"/>
              </a:lnSpc>
              <a:tabLst>
                <a:tab pos="0" algn="l"/>
              </a:tabLst>
            </a:pP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الآلة تقوم بتقسيم البيانات إلى فئات منفصلة ومغلقة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(Discrete Categories)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0" name="Google Shape;115;p15"/>
          <p:cNvSpPr/>
          <p:nvPr/>
        </p:nvSpPr>
        <p:spPr>
          <a:xfrm>
            <a:off x="6629400" y="4786200"/>
            <a:ext cx="4457520" cy="690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مثال توضيحي: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فرز رسائل البريد الإلكتروني الواردة وتصنيفها إما كبريد مزعج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(Spam)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أو بريد طبيعي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(Ham)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1" name="Google Shape;116;p15"/>
          <p:cNvSpPr/>
          <p:nvPr/>
        </p:nvSpPr>
        <p:spPr>
          <a:xfrm>
            <a:off x="882000" y="3079800"/>
            <a:ext cx="4680360" cy="297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hi-IN" sz="19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الانحدار</a:t>
            </a:r>
            <a:r>
              <a:rPr lang="en-US" sz="19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(Regression)</a:t>
            </a:r>
            <a:endParaRPr lang="en-US" sz="19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2" name="Google Shape;117;p15"/>
          <p:cNvSpPr/>
          <p:nvPr/>
        </p:nvSpPr>
        <p:spPr>
          <a:xfrm>
            <a:off x="1104840" y="3689280"/>
            <a:ext cx="4457520" cy="345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59000"/>
              </a:lnSpc>
              <a:tabLst>
                <a:tab pos="0" algn="l"/>
              </a:tabLst>
            </a:pPr>
            <a:r>
              <a:rPr lang="hi-IN" sz="143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الإجابة هنا تكون عبارة عن رقم مستمر أو قيمة عددية</a:t>
            </a:r>
            <a:r>
              <a:rPr lang="en-US" sz="143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: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3" name="Google Shape;118;p15"/>
          <p:cNvSpPr/>
          <p:nvPr/>
        </p:nvSpPr>
        <p:spPr>
          <a:xfrm>
            <a:off x="1104840" y="4093200"/>
            <a:ext cx="4457520" cy="690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59000"/>
              </a:lnSpc>
              <a:tabLst>
                <a:tab pos="0" algn="l"/>
              </a:tabLst>
            </a:pP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الآلة تقوم بالتنبؤ بقيمة رقمية متغيرة وغير محددة مسبقاً بفئات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(Continuous Values)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4" name="Google Shape;119;p15"/>
          <p:cNvSpPr/>
          <p:nvPr/>
        </p:nvSpPr>
        <p:spPr>
          <a:xfrm>
            <a:off x="1104840" y="4786200"/>
            <a:ext cx="4457520" cy="691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مثال توضيحي: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تقدير السعر المستقبلي لمنزل ما بناءً على مساحته وموقعه الجغرافي (تكون النتيجة رقم مثل 250,000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$).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95" name="Google Shape;120;p15" descr="imag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0658520" y="2384280"/>
            <a:ext cx="428400" cy="380520"/>
          </a:xfrm>
          <a:prstGeom prst="rect">
            <a:avLst/>
          </a:prstGeom>
          <a:ln w="0">
            <a:noFill/>
          </a:ln>
        </p:spPr>
      </p:pic>
      <p:pic>
        <p:nvPicPr>
          <p:cNvPr id="96" name="Google Shape;121;p15" descr="image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5181480" y="2384280"/>
            <a:ext cx="380520" cy="380520"/>
          </a:xfrm>
          <a:prstGeom prst="rect">
            <a:avLst/>
          </a:prstGeom>
          <a:ln w="0">
            <a:noFill/>
          </a:ln>
        </p:spPr>
      </p:pic>
      <p:sp>
        <p:nvSpPr>
          <p:cNvPr id="97" name="Google Shape;122;p15"/>
          <p:cNvSpPr/>
          <p:nvPr/>
        </p:nvSpPr>
        <p:spPr>
          <a:xfrm>
            <a:off x="237960" y="685800"/>
            <a:ext cx="11000880" cy="434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hi-IN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التصنيف مقابل الانحدار</a:t>
            </a:r>
            <a:r>
              <a:rPr lang="en-US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28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(Classification vs Regression)</a:t>
            </a:r>
            <a:endParaRPr lang="en-US" sz="28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8" name="Google Shape;123;p15"/>
          <p:cNvSpPr/>
          <p:nvPr/>
        </p:nvSpPr>
        <p:spPr>
          <a:xfrm>
            <a:off x="11353680" y="685800"/>
            <a:ext cx="75960" cy="68544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128;p16" descr="imag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pic>
        <p:nvPicPr>
          <p:cNvPr id="100" name="Google Shape;129;p16" descr="imag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8032680" y="2154600"/>
            <a:ext cx="3396960" cy="3682080"/>
          </a:xfrm>
          <a:prstGeom prst="rect">
            <a:avLst/>
          </a:prstGeom>
          <a:ln w="0">
            <a:noFill/>
          </a:ln>
        </p:spPr>
      </p:pic>
      <p:pic>
        <p:nvPicPr>
          <p:cNvPr id="101" name="Google Shape;130;p16" descr="imag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4397400" y="2154600"/>
            <a:ext cx="3396960" cy="3682080"/>
          </a:xfrm>
          <a:prstGeom prst="rect">
            <a:avLst/>
          </a:prstGeom>
          <a:ln w="0">
            <a:noFill/>
          </a:ln>
        </p:spPr>
      </p:pic>
      <p:pic>
        <p:nvPicPr>
          <p:cNvPr id="102" name="Google Shape;131;p16" descr="image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761760" y="2154600"/>
            <a:ext cx="3396960" cy="3682080"/>
          </a:xfrm>
          <a:prstGeom prst="rect">
            <a:avLst/>
          </a:prstGeom>
          <a:ln w="0">
            <a:noFill/>
          </a:ln>
        </p:spPr>
      </p:pic>
      <p:sp>
        <p:nvSpPr>
          <p:cNvPr id="103" name="Google Shape;132;p16"/>
          <p:cNvSpPr/>
          <p:nvPr/>
        </p:nvSpPr>
        <p:spPr>
          <a:xfrm>
            <a:off x="0" y="0"/>
            <a:ext cx="12191760" cy="11412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4" name="Google Shape;133;p16"/>
          <p:cNvSpPr/>
          <p:nvPr/>
        </p:nvSpPr>
        <p:spPr>
          <a:xfrm>
            <a:off x="8187480" y="3345120"/>
            <a:ext cx="2946600" cy="297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95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1. </a:t>
            </a:r>
            <a:r>
              <a:rPr lang="hi-IN" sz="195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الخاضع للإشراف</a:t>
            </a:r>
            <a:endParaRPr lang="en-US" sz="19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5" name="Google Shape;134;p16"/>
          <p:cNvSpPr/>
          <p:nvPr/>
        </p:nvSpPr>
        <p:spPr>
          <a:xfrm>
            <a:off x="8327880" y="3954600"/>
            <a:ext cx="2806560" cy="262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60000"/>
              </a:lnSpc>
              <a:tabLst>
                <a:tab pos="0" algn="l"/>
              </a:tabLst>
            </a:pPr>
            <a:r>
              <a:rPr lang="en-US" sz="108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</a:rPr>
              <a:t>Supervised Learning</a:t>
            </a:r>
            <a:endParaRPr lang="en-US" sz="1080" b="0" strike="noStrike" spc="-1">
              <a:solidFill>
                <a:srgbClr val="0EA5E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6" name="Google Shape;135;p16"/>
          <p:cNvSpPr/>
          <p:nvPr/>
        </p:nvSpPr>
        <p:spPr>
          <a:xfrm>
            <a:off x="8327880" y="4269600"/>
            <a:ext cx="2806560" cy="1037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59000"/>
              </a:lnSpc>
              <a:tabLst>
                <a:tab pos="0" algn="l"/>
              </a:tabLst>
            </a:pP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التعلم بوجود موجه أو "معلم". يتم تدريب الآلة على إجابات وأمثلة صحيحة ومحددة مسبقاً ليقاس مدى تقدمها بمرور الوقت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7" name="Google Shape;136;p16"/>
          <p:cNvSpPr/>
          <p:nvPr/>
        </p:nvSpPr>
        <p:spPr>
          <a:xfrm>
            <a:off x="4552200" y="3345120"/>
            <a:ext cx="2946600" cy="297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95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2. </a:t>
            </a:r>
            <a:r>
              <a:rPr lang="hi-IN" sz="195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غير الخاضع للإشراف</a:t>
            </a:r>
            <a:endParaRPr lang="en-US" sz="19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8" name="Google Shape;137;p16"/>
          <p:cNvSpPr/>
          <p:nvPr/>
        </p:nvSpPr>
        <p:spPr>
          <a:xfrm>
            <a:off x="4692600" y="3954600"/>
            <a:ext cx="2806560" cy="262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60000"/>
              </a:lnSpc>
              <a:tabLst>
                <a:tab pos="0" algn="l"/>
              </a:tabLst>
            </a:pPr>
            <a:r>
              <a:rPr lang="en-US" sz="108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</a:rPr>
              <a:t>Unsupervised Learning</a:t>
            </a:r>
            <a:endParaRPr lang="en-US" sz="1080" b="0" strike="noStrike" spc="-1">
              <a:solidFill>
                <a:srgbClr val="0EA5E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09" name="Google Shape;138;p16"/>
          <p:cNvSpPr/>
          <p:nvPr/>
        </p:nvSpPr>
        <p:spPr>
          <a:xfrm>
            <a:off x="4692600" y="4269600"/>
            <a:ext cx="2806560" cy="1037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59000"/>
              </a:lnSpc>
              <a:tabLst>
                <a:tab pos="0" algn="l"/>
              </a:tabLst>
            </a:pP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التعلم الذاتي المستقل. تبحث الآلة بنفسها عن الأنماط والتجمعات المتشابهة داخل البيانات بدون أي توجيه أو تسمية مسبقة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10" name="Google Shape;139;p16"/>
          <p:cNvSpPr/>
          <p:nvPr/>
        </p:nvSpPr>
        <p:spPr>
          <a:xfrm>
            <a:off x="916920" y="3345120"/>
            <a:ext cx="2946600" cy="297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195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3. </a:t>
            </a:r>
            <a:r>
              <a:rPr lang="hi-IN" sz="195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التعلم المعزز</a:t>
            </a:r>
            <a:endParaRPr lang="en-US" sz="19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11" name="Google Shape;140;p16"/>
          <p:cNvSpPr/>
          <p:nvPr/>
        </p:nvSpPr>
        <p:spPr>
          <a:xfrm>
            <a:off x="1056960" y="3954600"/>
            <a:ext cx="2806560" cy="2628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60000"/>
              </a:lnSpc>
              <a:tabLst>
                <a:tab pos="0" algn="l"/>
              </a:tabLst>
            </a:pPr>
            <a:r>
              <a:rPr lang="en-US" sz="108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</a:rPr>
              <a:t>Reinforcement Learning</a:t>
            </a:r>
            <a:endParaRPr lang="en-US" sz="1080" b="0" strike="noStrike" spc="-1">
              <a:solidFill>
                <a:srgbClr val="0EA5E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2" name="Google Shape;141;p16"/>
          <p:cNvSpPr/>
          <p:nvPr/>
        </p:nvSpPr>
        <p:spPr>
          <a:xfrm>
            <a:off x="1056960" y="4269600"/>
            <a:ext cx="2806560" cy="10371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59000"/>
              </a:lnSpc>
              <a:tabLst>
                <a:tab pos="0" algn="l"/>
              </a:tabLst>
            </a:pP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التعلم من خلال التجارب والمحاكاة المباشرة بالاعتماد على التغذية الراجعة من مكافآت النجاح وعقوبات ارتكاب الأخطاء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113" name="Google Shape;142;p16" descr="image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10658520" y="2649600"/>
            <a:ext cx="475920" cy="380520"/>
          </a:xfrm>
          <a:prstGeom prst="rect">
            <a:avLst/>
          </a:prstGeom>
          <a:ln w="0">
            <a:noFill/>
          </a:ln>
        </p:spPr>
      </p:pic>
      <p:pic>
        <p:nvPicPr>
          <p:cNvPr id="114" name="Google Shape;143;p16" descr="image.png"/>
          <p:cNvPicPr/>
          <p:nvPr/>
        </p:nvPicPr>
        <p:blipFill>
          <a:blip r:embed="rId6"/>
          <a:stretch>
            <a:fillRect/>
          </a:stretch>
        </p:blipFill>
        <p:spPr>
          <a:xfrm>
            <a:off x="7118280" y="2649600"/>
            <a:ext cx="380520" cy="380520"/>
          </a:xfrm>
          <a:prstGeom prst="rect">
            <a:avLst/>
          </a:prstGeom>
          <a:ln w="0">
            <a:noFill/>
          </a:ln>
        </p:spPr>
      </p:pic>
      <p:pic>
        <p:nvPicPr>
          <p:cNvPr id="115" name="Google Shape;144;p16" descr="image.png"/>
          <p:cNvPicPr/>
          <p:nvPr/>
        </p:nvPicPr>
        <p:blipFill>
          <a:blip r:embed="rId7"/>
          <a:stretch>
            <a:fillRect/>
          </a:stretch>
        </p:blipFill>
        <p:spPr>
          <a:xfrm>
            <a:off x="3387600" y="2649600"/>
            <a:ext cx="475920" cy="380520"/>
          </a:xfrm>
          <a:prstGeom prst="rect">
            <a:avLst/>
          </a:prstGeom>
          <a:ln w="0">
            <a:noFill/>
          </a:ln>
        </p:spPr>
      </p:pic>
      <p:sp>
        <p:nvSpPr>
          <p:cNvPr id="116" name="Google Shape;145;p16"/>
          <p:cNvSpPr/>
          <p:nvPr/>
        </p:nvSpPr>
        <p:spPr>
          <a:xfrm>
            <a:off x="237960" y="685800"/>
            <a:ext cx="11000880" cy="434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hi-IN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طرق تعلم الآلة الأساسية</a:t>
            </a:r>
            <a:r>
              <a:rPr lang="en-US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28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(Types of Machine Learning)</a:t>
            </a:r>
            <a:endParaRPr lang="en-US" sz="28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17" name="Google Shape;146;p16"/>
          <p:cNvSpPr/>
          <p:nvPr/>
        </p:nvSpPr>
        <p:spPr>
          <a:xfrm>
            <a:off x="11353680" y="685800"/>
            <a:ext cx="75960" cy="68544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51;p17" descr="imag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119" name="Google Shape;152;p17"/>
          <p:cNvSpPr/>
          <p:nvPr/>
        </p:nvSpPr>
        <p:spPr>
          <a:xfrm>
            <a:off x="0" y="0"/>
            <a:ext cx="12191760" cy="11412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graphicFrame>
        <p:nvGraphicFramePr>
          <p:cNvPr id="120" name="Google Shape;153;p17"/>
          <p:cNvGraphicFramePr/>
          <p:nvPr/>
        </p:nvGraphicFramePr>
        <p:xfrm>
          <a:off x="762120" y="2324160"/>
          <a:ext cx="10667520" cy="3342600"/>
        </p:xfrm>
        <a:graphic>
          <a:graphicData uri="http://schemas.openxmlformats.org/drawingml/2006/table">
            <a:tbl>
              <a:tblPr/>
              <a:tblGrid>
                <a:gridCol w="2666880"/>
                <a:gridCol w="4000320"/>
                <a:gridCol w="4000320"/>
              </a:tblGrid>
              <a:tr h="835560"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500" b="1" strike="noStrike" spc="-1">
                          <a:solidFill>
                            <a:srgbClr val="0F172A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وجه المقارنة</a:t>
                      </a:r>
                      <a:endParaRPr lang="hi-IN" sz="1500" b="1" strike="noStrike" spc="-1">
                        <a:solidFill>
                          <a:srgbClr val="0F172A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500" b="1" strike="noStrike" spc="-1">
                          <a:solidFill>
                            <a:srgbClr val="0F172A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التعلم الخاضع للإشراف</a:t>
                      </a:r>
                      <a:r>
                        <a:rPr lang="en-US" sz="1500" b="1" strike="noStrike" spc="-1">
                          <a:solidFill>
                            <a:srgbClr val="0F172A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 (Supervised)</a:t>
                      </a:r>
                      <a:endParaRPr lang="en-US" sz="1500" b="0" strike="noStrike" spc="-1">
                        <a:solidFill>
                          <a:srgbClr val="00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500" b="1" strike="noStrike" spc="-1">
                          <a:solidFill>
                            <a:srgbClr val="0F172A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التعلم غير الخاضع للإشراف</a:t>
                      </a:r>
                      <a:r>
                        <a:rPr lang="en-US" sz="1500" b="1" strike="noStrike" spc="-1">
                          <a:solidFill>
                            <a:srgbClr val="0F172A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 (Unsupervised)</a:t>
                      </a:r>
                      <a:endParaRPr lang="en-US" sz="1500" b="0" strike="noStrike" spc="-1">
                        <a:solidFill>
                          <a:srgbClr val="00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F8FAFC"/>
                    </a:solidFill>
                  </a:tcPr>
                </a:tc>
              </a:tr>
              <a:tr h="835560"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430" b="1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طبيعة البيانات</a:t>
                      </a:r>
                      <a:endParaRPr lang="hi-IN" sz="1430" b="1" strike="noStrike" spc="-1">
                        <a:solidFill>
                          <a:srgbClr val="475569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430" b="0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بيانات معرفة ومصنفة مسبقاً بدقة</a:t>
                      </a:r>
                      <a:r>
                        <a:rPr lang="en-US" sz="1430" b="0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 (Labeled Data)</a:t>
                      </a:r>
                      <a:endParaRPr lang="en-US" sz="1430" b="0" strike="noStrike" spc="-1">
                        <a:solidFill>
                          <a:srgbClr val="00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430" b="0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بيانات غير مصنفة أو خام بالكامل</a:t>
                      </a:r>
                      <a:r>
                        <a:rPr lang="en-US" sz="1430" b="0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 (Unlabeled Data)</a:t>
                      </a:r>
                      <a:endParaRPr lang="en-US" sz="1430" b="0" strike="noStrike" spc="-1">
                        <a:solidFill>
                          <a:srgbClr val="00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  <a:tr h="835560"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430" b="1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الهدف الأساسي</a:t>
                      </a:r>
                      <a:endParaRPr lang="hi-IN" sz="1430" b="1" strike="noStrike" spc="-1">
                        <a:solidFill>
                          <a:srgbClr val="475569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430" b="0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التنبؤ بنتائج وقيم واضحة بناءً على الأنماط السابقة</a:t>
                      </a:r>
                      <a:endParaRPr lang="hi-IN" sz="1430" b="0" strike="noStrike" spc="-1">
                        <a:solidFill>
                          <a:srgbClr val="475569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430" b="0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اكتشاف الهياكل الأساسية وتجميع النقاط المتشابهة تلقائياً</a:t>
                      </a:r>
                      <a:endParaRPr lang="hi-IN" sz="1430" b="0" strike="noStrike" spc="-1">
                        <a:solidFill>
                          <a:srgbClr val="475569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E8ECF4"/>
                    </a:solidFill>
                  </a:tcPr>
                </a:tc>
              </a:tr>
              <a:tr h="835560"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430" b="1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أبرز التطبيقات</a:t>
                      </a:r>
                      <a:endParaRPr lang="hi-IN" sz="1430" b="1" strike="noStrike" spc="-1">
                        <a:solidFill>
                          <a:srgbClr val="475569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430" b="0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أنظمة التعرف على الوجوه، تقييم القروض البنكية</a:t>
                      </a:r>
                      <a:endParaRPr lang="hi-IN" sz="1430" b="0" strike="noStrike" spc="-1">
                        <a:solidFill>
                          <a:srgbClr val="475569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r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hi-IN" sz="1430" b="0" strike="noStrike" spc="-1">
                          <a:solidFill>
                            <a:srgbClr val="475569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</a:rPr>
                        <a:t>تقسيم شرائح العملاء لغايات التسويق المستهدف</a:t>
                      </a:r>
                      <a:endParaRPr lang="hi-IN" sz="1430" b="0" strike="noStrike" spc="-1">
                        <a:solidFill>
                          <a:srgbClr val="475569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</a:endParaRPr>
                    </a:p>
                  </a:txBody>
                  <a:tcPr marL="63360" marR="63360" marT="25200" marB="25200" anchor="ctr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9360">
                      <a:solidFill>
                        <a:srgbClr val="000000"/>
                      </a:solidFill>
                      <a:prstDash val="solid"/>
                    </a:lnB>
                    <a:solidFill>
                      <a:srgbClr val="CFD7E7"/>
                    </a:solidFill>
                  </a:tcPr>
                </a:tc>
              </a:tr>
            </a:tbl>
          </a:graphicData>
        </a:graphic>
      </p:graphicFrame>
      <p:sp>
        <p:nvSpPr>
          <p:cNvPr id="121" name="Google Shape;154;p17"/>
          <p:cNvSpPr/>
          <p:nvPr/>
        </p:nvSpPr>
        <p:spPr>
          <a:xfrm>
            <a:off x="8763120" y="3262320"/>
            <a:ext cx="26665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2" name="Google Shape;155;p17"/>
          <p:cNvSpPr/>
          <p:nvPr/>
        </p:nvSpPr>
        <p:spPr>
          <a:xfrm>
            <a:off x="8763120" y="2338560"/>
            <a:ext cx="2666520" cy="2808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14040" bIns="1404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3" name="Google Shape;156;p17"/>
          <p:cNvSpPr/>
          <p:nvPr/>
        </p:nvSpPr>
        <p:spPr>
          <a:xfrm>
            <a:off x="4762440" y="3262320"/>
            <a:ext cx="40003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4" name="Google Shape;157;p17"/>
          <p:cNvSpPr/>
          <p:nvPr/>
        </p:nvSpPr>
        <p:spPr>
          <a:xfrm>
            <a:off x="4762440" y="2338560"/>
            <a:ext cx="4000320" cy="2808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14040" bIns="1404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5" name="Google Shape;158;p17"/>
          <p:cNvSpPr/>
          <p:nvPr/>
        </p:nvSpPr>
        <p:spPr>
          <a:xfrm>
            <a:off x="762120" y="3262320"/>
            <a:ext cx="40003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6" name="Google Shape;159;p17"/>
          <p:cNvSpPr/>
          <p:nvPr/>
        </p:nvSpPr>
        <p:spPr>
          <a:xfrm>
            <a:off x="762120" y="2338560"/>
            <a:ext cx="4000320" cy="2808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14040" bIns="1404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7" name="Google Shape;160;p17"/>
          <p:cNvSpPr/>
          <p:nvPr/>
        </p:nvSpPr>
        <p:spPr>
          <a:xfrm>
            <a:off x="8763120" y="4155840"/>
            <a:ext cx="26665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8" name="Google Shape;161;p17"/>
          <p:cNvSpPr/>
          <p:nvPr/>
        </p:nvSpPr>
        <p:spPr>
          <a:xfrm>
            <a:off x="4762440" y="4155840"/>
            <a:ext cx="40003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9" name="Google Shape;162;p17"/>
          <p:cNvSpPr/>
          <p:nvPr/>
        </p:nvSpPr>
        <p:spPr>
          <a:xfrm>
            <a:off x="762120" y="4155840"/>
            <a:ext cx="40003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30" name="Google Shape;163;p17"/>
          <p:cNvSpPr/>
          <p:nvPr/>
        </p:nvSpPr>
        <p:spPr>
          <a:xfrm>
            <a:off x="8763120" y="5049000"/>
            <a:ext cx="26665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31" name="Google Shape;164;p17"/>
          <p:cNvSpPr/>
          <p:nvPr/>
        </p:nvSpPr>
        <p:spPr>
          <a:xfrm>
            <a:off x="4762440" y="5049000"/>
            <a:ext cx="40003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32" name="Google Shape;165;p17"/>
          <p:cNvSpPr/>
          <p:nvPr/>
        </p:nvSpPr>
        <p:spPr>
          <a:xfrm>
            <a:off x="762120" y="5049000"/>
            <a:ext cx="40003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33" name="Google Shape;166;p17"/>
          <p:cNvSpPr/>
          <p:nvPr/>
        </p:nvSpPr>
        <p:spPr>
          <a:xfrm>
            <a:off x="8763120" y="5652720"/>
            <a:ext cx="26665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34" name="Google Shape;167;p17"/>
          <p:cNvSpPr/>
          <p:nvPr/>
        </p:nvSpPr>
        <p:spPr>
          <a:xfrm>
            <a:off x="4762440" y="5652720"/>
            <a:ext cx="40003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35" name="Google Shape;168;p17"/>
          <p:cNvSpPr/>
          <p:nvPr/>
        </p:nvSpPr>
        <p:spPr>
          <a:xfrm>
            <a:off x="762120" y="5652720"/>
            <a:ext cx="4000320" cy="9000"/>
          </a:xfrm>
          <a:prstGeom prst="rect">
            <a:avLst/>
          </a:prstGeom>
          <a:solidFill>
            <a:srgbClr val="E2E8F0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36" name="Google Shape;169;p17"/>
          <p:cNvSpPr/>
          <p:nvPr/>
        </p:nvSpPr>
        <p:spPr>
          <a:xfrm>
            <a:off x="237960" y="685800"/>
            <a:ext cx="11000880" cy="434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hi-IN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مقارنة منهجية لأساليب التعلم</a:t>
            </a:r>
            <a:r>
              <a:rPr lang="en-US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28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(Supervised vs Unsupervised)</a:t>
            </a:r>
            <a:endParaRPr lang="en-US" sz="28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7" name="Google Shape;170;p17"/>
          <p:cNvSpPr/>
          <p:nvPr/>
        </p:nvSpPr>
        <p:spPr>
          <a:xfrm>
            <a:off x="11353680" y="685800"/>
            <a:ext cx="75960" cy="68544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75;p18" descr="imag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pic>
        <p:nvPicPr>
          <p:cNvPr id="139" name="Google Shape;176;p18" descr="imag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7238880" y="2376360"/>
            <a:ext cx="3238200" cy="3238200"/>
          </a:xfrm>
          <a:prstGeom prst="rect">
            <a:avLst/>
          </a:prstGeom>
          <a:ln w="0">
            <a:noFill/>
          </a:ln>
        </p:spPr>
      </p:pic>
      <p:sp>
        <p:nvSpPr>
          <p:cNvPr id="140" name="Google Shape;177;p18"/>
          <p:cNvSpPr/>
          <p:nvPr/>
        </p:nvSpPr>
        <p:spPr>
          <a:xfrm>
            <a:off x="0" y="0"/>
            <a:ext cx="12191760" cy="11412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41" name="Google Shape;178;p18"/>
          <p:cNvSpPr/>
          <p:nvPr/>
        </p:nvSpPr>
        <p:spPr>
          <a:xfrm>
            <a:off x="762120" y="2651040"/>
            <a:ext cx="5400360" cy="297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hi-IN" sz="195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كيف يتعلم الوكيل الذكي تلقائياً؟</a:t>
            </a:r>
            <a:endParaRPr lang="hi-IN" sz="1950" b="0" strike="noStrike" spc="-1">
              <a:solidFill>
                <a:srgbClr val="0F172A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2" name="Google Shape;179;p18"/>
          <p:cNvSpPr/>
          <p:nvPr/>
        </p:nvSpPr>
        <p:spPr>
          <a:xfrm>
            <a:off x="762120" y="3260520"/>
            <a:ext cx="5143320" cy="690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مبدأ الوكيل والبيئة: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يتم إطلاق برمجية ذكية تدعى الوكيل الذكي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(Agent)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داخل بيئة تفاعلية ليتعلم السلوك الأمثل بمفرده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3" name="Google Shape;180;p18"/>
          <p:cNvSpPr/>
          <p:nvPr/>
        </p:nvSpPr>
        <p:spPr>
          <a:xfrm>
            <a:off x="762120" y="3953880"/>
            <a:ext cx="5143320" cy="690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المكافأة والعقاب: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عند قيامه بسلوك صحيح يتم مكافأته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(Reward)</a:t>
            </a: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، وعند الوقوع في الخطأ يتلقى عقوبة افتراضية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(Penalty)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4" name="Google Shape;181;p18"/>
          <p:cNvSpPr/>
          <p:nvPr/>
        </p:nvSpPr>
        <p:spPr>
          <a:xfrm>
            <a:off x="762120" y="4647240"/>
            <a:ext cx="5143320" cy="2073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تطبيقات رائدة: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تدريب السيارات ذاتية القيادة لتجنب الاصطدامات، وتطوير الروبوتات المتقدمة لتجاوز المتاهات وتحديات الألعاب الحربية المعقدة.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example video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https://youtube.com/shorts/n8CczAciHk4?si=CaAqUiIgkqymYGjt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59000"/>
              </a:lnSpc>
              <a:tabLst>
                <a:tab pos="0" algn="l"/>
              </a:tabLst>
            </a:pP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145" name="Google Shape;182;p18" descr="imag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248600" y="2386080"/>
            <a:ext cx="3219120" cy="3219120"/>
          </a:xfrm>
          <a:prstGeom prst="rect">
            <a:avLst/>
          </a:prstGeom>
          <a:ln w="0">
            <a:noFill/>
          </a:ln>
        </p:spPr>
      </p:pic>
      <p:sp>
        <p:nvSpPr>
          <p:cNvPr id="146" name="Google Shape;183;p18"/>
          <p:cNvSpPr/>
          <p:nvPr/>
        </p:nvSpPr>
        <p:spPr>
          <a:xfrm>
            <a:off x="237960" y="685800"/>
            <a:ext cx="11000880" cy="434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hi-IN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التعلم المعزز بالتجربة والخطأ</a:t>
            </a:r>
            <a:r>
              <a:rPr lang="en-US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28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(Reinforcement Learning)</a:t>
            </a:r>
            <a:endParaRPr lang="en-US" sz="28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7" name="Google Shape;184;p18"/>
          <p:cNvSpPr/>
          <p:nvPr/>
        </p:nvSpPr>
        <p:spPr>
          <a:xfrm>
            <a:off x="11353680" y="685800"/>
            <a:ext cx="75960" cy="68544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89;p19" descr="imag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pic>
        <p:nvPicPr>
          <p:cNvPr id="149" name="Google Shape;190;p19" descr="imag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762120" y="2185920"/>
            <a:ext cx="5143320" cy="3619080"/>
          </a:xfrm>
          <a:prstGeom prst="rect">
            <a:avLst/>
          </a:prstGeom>
          <a:ln w="0">
            <a:noFill/>
          </a:ln>
        </p:spPr>
      </p:pic>
      <p:sp>
        <p:nvSpPr>
          <p:cNvPr id="150" name="Google Shape;191;p19"/>
          <p:cNvSpPr/>
          <p:nvPr/>
        </p:nvSpPr>
        <p:spPr>
          <a:xfrm>
            <a:off x="0" y="0"/>
            <a:ext cx="12191760" cy="11412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cs typeface="+mn-lt"/>
            </a:endParaRPr>
          </a:p>
        </p:txBody>
      </p:sp>
      <p:sp>
        <p:nvSpPr>
          <p:cNvPr id="151" name="Google Shape;192;p19"/>
          <p:cNvSpPr/>
          <p:nvPr/>
        </p:nvSpPr>
        <p:spPr>
          <a:xfrm>
            <a:off x="6286680" y="2361600"/>
            <a:ext cx="5400360" cy="297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hi-IN" sz="1950" b="0" strike="noStrike" spc="-1">
                <a:solidFill>
                  <a:srgbClr val="0F172A"/>
                </a:solidFill>
                <a:cs typeface="+mn-lt"/>
              </a:rPr>
              <a:t>أشهر عقبات النمذجة الرياضية لتعلم الآلة</a:t>
            </a:r>
            <a:endParaRPr lang="hi-IN" sz="1950" b="0" strike="noStrike" spc="-1">
              <a:solidFill>
                <a:srgbClr val="0F172A"/>
              </a:solidFill>
              <a:cs typeface="+mn-lt"/>
            </a:endParaRPr>
          </a:p>
        </p:txBody>
      </p:sp>
      <p:sp>
        <p:nvSpPr>
          <p:cNvPr id="152" name="Google Shape;193;p19"/>
          <p:cNvSpPr/>
          <p:nvPr/>
        </p:nvSpPr>
        <p:spPr>
          <a:xfrm>
            <a:off x="6286680" y="2971080"/>
            <a:ext cx="5143320" cy="1036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cs typeface="+mn-lt"/>
              </a:rPr>
              <a:t>التكيف الزائد</a:t>
            </a:r>
            <a:r>
              <a:rPr lang="en-US" sz="1430" b="1" strike="noStrike" spc="-1">
                <a:solidFill>
                  <a:srgbClr val="475569"/>
                </a:solidFill>
                <a:ea typeface="Cairo"/>
                <a:cs typeface="+mn-lt"/>
              </a:rPr>
              <a:t> </a:t>
            </a:r>
            <a:r>
              <a:rPr lang="en-US" sz="1430" b="0" strike="noStrike" spc="-1">
                <a:solidFill>
                  <a:srgbClr val="0EA5E9"/>
                </a:solidFill>
                <a:ea typeface="Cairo SemiBold"/>
                <a:cs typeface="+mn-lt"/>
              </a:rPr>
              <a:t>(Overfitting)</a:t>
            </a:r>
            <a:r>
              <a:rPr lang="en-US" sz="1430" b="1" strike="noStrike" spc="-1">
                <a:solidFill>
                  <a:srgbClr val="475569"/>
                </a:solidFill>
                <a:ea typeface="Cairo"/>
                <a:cs typeface="+mn-lt"/>
              </a:rPr>
              <a:t>:</a:t>
            </a:r>
            <a:r>
              <a:rPr lang="en-US" sz="1430" b="0" strike="noStrike" spc="-1">
                <a:solidFill>
                  <a:srgbClr val="475569"/>
                </a:solidFill>
                <a:ea typeface="Cairo"/>
                <a:cs typeface="+mn-lt"/>
              </a:rPr>
              <a:t> </a:t>
            </a:r>
            <a:r>
              <a:rPr lang="hi-IN" sz="1430" b="0" strike="noStrike" spc="-1">
                <a:solidFill>
                  <a:srgbClr val="475569"/>
                </a:solidFill>
                <a:cs typeface="+mn-lt"/>
              </a:rPr>
              <a:t>مثل الطالب الذي يحفظ أسئلة التدريب حرفياً دون فهم المبدأ؛ فينجح في الامتحانات التدريبية بنسبة </a:t>
            </a:r>
            <a:r>
              <a:rPr lang="en-US" sz="1430" b="0" strike="noStrike" spc="-1">
                <a:solidFill>
                  <a:srgbClr val="475569"/>
                </a:solidFill>
                <a:ea typeface="Cairo"/>
                <a:cs typeface="+mn-lt"/>
              </a:rPr>
              <a:t>100</a:t>
            </a:r>
            <a:r>
              <a:rPr lang="en-US" sz="1430" b="0" strike="noStrike" spc="-1">
                <a:solidFill>
                  <a:srgbClr val="475569"/>
                </a:solidFill>
                <a:ea typeface="Cairo"/>
                <a:cs typeface="+mn-lt"/>
              </a:rPr>
              <a:t>%، لكنه يفشل فور تلاوة أسئلة اختبار حقيقية ومعدلة بشكل طفيف.</a:t>
            </a:r>
            <a:endParaRPr lang="en-US" sz="1430" b="0" strike="noStrike" spc="-1">
              <a:solidFill>
                <a:srgbClr val="000000"/>
              </a:solidFill>
              <a:cs typeface="+mn-lt"/>
            </a:endParaRPr>
          </a:p>
        </p:txBody>
      </p:sp>
      <p:sp>
        <p:nvSpPr>
          <p:cNvPr id="153" name="Google Shape;194;p19"/>
          <p:cNvSpPr/>
          <p:nvPr/>
        </p:nvSpPr>
        <p:spPr>
          <a:xfrm>
            <a:off x="6286680" y="3953880"/>
            <a:ext cx="5143320" cy="1036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cs typeface="+mn-lt"/>
              </a:rPr>
              <a:t>التكيف الناقص</a:t>
            </a:r>
            <a:r>
              <a:rPr lang="en-US" sz="1430" b="1" strike="noStrike" spc="-1">
                <a:solidFill>
                  <a:srgbClr val="475569"/>
                </a:solidFill>
                <a:ea typeface="Cairo"/>
                <a:cs typeface="+mn-lt"/>
              </a:rPr>
              <a:t> </a:t>
            </a:r>
            <a:r>
              <a:rPr lang="en-US" sz="1430" b="0" strike="noStrike" spc="-1">
                <a:solidFill>
                  <a:srgbClr val="0EA5E9"/>
                </a:solidFill>
                <a:ea typeface="Cairo SemiBold"/>
                <a:cs typeface="+mn-lt"/>
              </a:rPr>
              <a:t>(Underfitting)</a:t>
            </a:r>
            <a:r>
              <a:rPr lang="en-US" sz="1430" b="1" strike="noStrike" spc="-1">
                <a:solidFill>
                  <a:srgbClr val="475569"/>
                </a:solidFill>
                <a:ea typeface="Cairo"/>
                <a:cs typeface="+mn-lt"/>
              </a:rPr>
              <a:t>:</a:t>
            </a:r>
            <a:r>
              <a:rPr lang="en-US" sz="1430" b="0" strike="noStrike" spc="-1">
                <a:solidFill>
                  <a:srgbClr val="475569"/>
                </a:solidFill>
                <a:ea typeface="Cairo"/>
                <a:cs typeface="+mn-lt"/>
              </a:rPr>
              <a:t> </a:t>
            </a:r>
            <a:r>
              <a:rPr lang="hi-IN" sz="1430" b="0" strike="noStrike" spc="-1">
                <a:solidFill>
                  <a:srgbClr val="475569"/>
                </a:solidFill>
                <a:cs typeface="+mn-lt"/>
              </a:rPr>
              <a:t>مثل الطالب الذي أهمل المذاكرة ولم يفهم القواعد أو القوانين الأساسية أصلاً؛ فيفشل بالتبعية في الاختبارات التدريبية والحقيقية معاً لضعف بنائه</a:t>
            </a:r>
            <a:r>
              <a:rPr lang="en-US" sz="1430" b="0" strike="noStrike" spc="-1">
                <a:solidFill>
                  <a:srgbClr val="475569"/>
                </a:solidFill>
                <a:ea typeface="Cairo"/>
                <a:cs typeface="+mn-lt"/>
              </a:rPr>
              <a:t>.</a:t>
            </a:r>
            <a:endParaRPr lang="en-US" sz="1430" b="0" strike="noStrike" spc="-1">
              <a:solidFill>
                <a:srgbClr val="000000"/>
              </a:solidFill>
              <a:cs typeface="+mn-lt"/>
            </a:endParaRPr>
          </a:p>
        </p:txBody>
      </p:sp>
      <p:sp>
        <p:nvSpPr>
          <p:cNvPr id="154" name="Google Shape;195;p19"/>
          <p:cNvSpPr/>
          <p:nvPr/>
        </p:nvSpPr>
        <p:spPr>
          <a:xfrm>
            <a:off x="6286680" y="4936680"/>
            <a:ext cx="5143320" cy="690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59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475569"/>
                </a:solidFill>
                <a:cs typeface="+mn-lt"/>
              </a:rPr>
              <a:t>الحل السليم:</a:t>
            </a:r>
            <a:r>
              <a:rPr lang="en-US" sz="1430" b="0" strike="noStrike" spc="-1">
                <a:solidFill>
                  <a:srgbClr val="475569"/>
                </a:solidFill>
                <a:ea typeface="Cairo"/>
                <a:cs typeface="+mn-lt"/>
              </a:rPr>
              <a:t> البحث عن نقطة التوازن المثالية التي تتيح للنموذج تعميم المعرفة على البيانات الجديدة بمرونة تامة.</a:t>
            </a:r>
            <a:endParaRPr lang="en-US" sz="1430" b="0" strike="noStrike" spc="-1">
              <a:solidFill>
                <a:srgbClr val="000000"/>
              </a:solidFill>
              <a:cs typeface="+mn-lt"/>
            </a:endParaRPr>
          </a:p>
        </p:txBody>
      </p:sp>
      <p:pic>
        <p:nvPicPr>
          <p:cNvPr id="155" name="Google Shape;196;p19" descr="imag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71480" y="2195640"/>
            <a:ext cx="5124240" cy="3600000"/>
          </a:xfrm>
          <a:prstGeom prst="rect">
            <a:avLst/>
          </a:prstGeom>
          <a:ln w="0">
            <a:noFill/>
          </a:ln>
        </p:spPr>
      </p:pic>
      <p:sp>
        <p:nvSpPr>
          <p:cNvPr id="156" name="Google Shape;197;p19"/>
          <p:cNvSpPr/>
          <p:nvPr/>
        </p:nvSpPr>
        <p:spPr>
          <a:xfrm>
            <a:off x="237960" y="685800"/>
            <a:ext cx="11000880" cy="434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hi-IN" sz="2850" b="1" strike="noStrike" spc="-1">
                <a:solidFill>
                  <a:srgbClr val="0F172A"/>
                </a:solidFill>
                <a:cs typeface="+mn-lt"/>
              </a:rPr>
              <a:t>توازن النموذج</a:t>
            </a:r>
            <a:r>
              <a:rPr lang="en-US" sz="2850" b="1" strike="noStrike" spc="-1">
                <a:solidFill>
                  <a:srgbClr val="0F172A"/>
                </a:solidFill>
                <a:ea typeface="Cairo"/>
                <a:cs typeface="+mn-lt"/>
              </a:rPr>
              <a:t> </a:t>
            </a:r>
            <a:r>
              <a:rPr lang="en-US" sz="2850" b="0" strike="noStrike" spc="-1">
                <a:solidFill>
                  <a:srgbClr val="0EA5E9"/>
                </a:solidFill>
                <a:ea typeface="Cairo SemiBold"/>
                <a:cs typeface="+mn-lt"/>
              </a:rPr>
              <a:t>(Overfitting vs Underfitting)</a:t>
            </a:r>
            <a:endParaRPr lang="en-US" sz="2850" b="0" strike="noStrike" spc="-1">
              <a:solidFill>
                <a:srgbClr val="000000"/>
              </a:solidFill>
              <a:cs typeface="+mn-lt"/>
            </a:endParaRPr>
          </a:p>
        </p:txBody>
      </p:sp>
      <p:sp>
        <p:nvSpPr>
          <p:cNvPr id="157" name="Google Shape;198;p19"/>
          <p:cNvSpPr/>
          <p:nvPr/>
        </p:nvSpPr>
        <p:spPr>
          <a:xfrm>
            <a:off x="11353680" y="685800"/>
            <a:ext cx="75960" cy="68544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cs typeface="+mn-lt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203;p20" descr="imag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159" name="Google Shape;204;p20"/>
          <p:cNvSpPr/>
          <p:nvPr/>
        </p:nvSpPr>
        <p:spPr>
          <a:xfrm>
            <a:off x="0" y="0"/>
            <a:ext cx="12191760" cy="11412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60" name="Google Shape;205;p20"/>
          <p:cNvSpPr/>
          <p:nvPr/>
        </p:nvSpPr>
        <p:spPr>
          <a:xfrm>
            <a:off x="6400800" y="1371960"/>
            <a:ext cx="5143320" cy="1599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0500" b="1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</a:rPr>
              <a:t>3</a:t>
            </a:r>
            <a:endParaRPr lang="en-US" sz="10500" b="1" strike="noStrike" spc="-1">
              <a:solidFill>
                <a:srgbClr val="0EA5E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61" name="Google Shape;206;p20"/>
          <p:cNvSpPr/>
          <p:nvPr/>
        </p:nvSpPr>
        <p:spPr>
          <a:xfrm>
            <a:off x="6400800" y="2902680"/>
            <a:ext cx="5143320" cy="297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hi-IN" sz="1950" b="1" strike="noStrike" spc="-1">
                <a:solidFill>
                  <a:srgbClr val="F59E0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تحديات تطبيقية تفاعلية</a:t>
            </a:r>
            <a:endParaRPr lang="hi-IN" sz="1950" b="1" strike="noStrike" spc="-1">
              <a:solidFill>
                <a:srgbClr val="F59E0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2" name="Google Shape;207;p20"/>
          <p:cNvSpPr/>
          <p:nvPr/>
        </p:nvSpPr>
        <p:spPr>
          <a:xfrm>
            <a:off x="762120" y="2619360"/>
            <a:ext cx="5400360" cy="2977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hi-IN" sz="1950" b="0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أي نوع من أنواع التعلم يناسب السيناريوهات التالية؟</a:t>
            </a:r>
            <a:endParaRPr lang="hi-IN" sz="1950" b="0" strike="noStrike" spc="-1">
              <a:solidFill>
                <a:srgbClr val="0F172A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3" name="Google Shape;210;p20"/>
          <p:cNvSpPr/>
          <p:nvPr/>
        </p:nvSpPr>
        <p:spPr>
          <a:xfrm>
            <a:off x="237960" y="685800"/>
            <a:ext cx="11000880" cy="434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hi-IN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تحدي الحصة القصير</a:t>
            </a:r>
            <a:r>
              <a:rPr lang="en-US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28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(Quiz Time!)</a:t>
            </a:r>
            <a:endParaRPr lang="en-US" sz="28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4" name="Google Shape;211;p20"/>
          <p:cNvSpPr/>
          <p:nvPr/>
        </p:nvSpPr>
        <p:spPr>
          <a:xfrm>
            <a:off x="11353680" y="685800"/>
            <a:ext cx="75960" cy="68544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65" name="Google Shape;218;p 1"/>
          <p:cNvSpPr/>
          <p:nvPr/>
        </p:nvSpPr>
        <p:spPr>
          <a:xfrm>
            <a:off x="685800" y="3566520"/>
            <a:ext cx="10286640" cy="2743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257040" tIns="0" rIns="0" bIns="0" anchor="t">
            <a:spAutoFit/>
          </a:bodyPr>
          <a:p>
            <a:pPr algn="r">
              <a:lnSpc>
                <a:spcPct val="126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1E293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الحالة الطبية: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فرز الأشعة السينية لتحديد الأورام بالاعتماد على صور صنفها أخصائيون مسبقا 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لوجود مدخلات ومخرجات مصنفة مسبقاً.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6" name="Google Shape;219;p 1"/>
          <p:cNvSpPr/>
          <p:nvPr/>
        </p:nvSpPr>
        <p:spPr>
          <a:xfrm>
            <a:off x="762120" y="4315680"/>
            <a:ext cx="10286640" cy="5475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285840" tIns="0" rIns="0" bIns="0" anchor="t">
            <a:spAutoFit/>
          </a:bodyPr>
          <a:p>
            <a:pPr algn="r">
              <a:lnSpc>
                <a:spcPct val="126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1E293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الحالة التجارية: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تنظيم قوائم آلاف المشترين لمتجر إلكتروني وتقسيمهم تلقائياً بناءً على تقارب سلوكهم الاستهلاكي 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 algn="r">
              <a:lnSpc>
                <a:spcPct val="126000"/>
              </a:lnSpc>
              <a:tabLst>
                <a:tab pos="0" algn="l"/>
              </a:tabLst>
            </a:pP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بهدف الكشف الذاتي عن العلاقات المخفية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67" name="Google Shape;220;p 1"/>
          <p:cNvSpPr/>
          <p:nvPr/>
        </p:nvSpPr>
        <p:spPr>
          <a:xfrm>
            <a:off x="762120" y="5132880"/>
            <a:ext cx="10286640" cy="6192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228600" tIns="0" rIns="0" bIns="0" anchor="t">
            <a:spAutoFit/>
          </a:bodyPr>
          <a:p>
            <a:pPr algn="r">
              <a:lnSpc>
                <a:spcPct val="126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1E293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الحالة الميكانيكية: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تعليم ذراع روبوت كيفية توازن عصا بذكاء عن طريق المحاولة والخطأ والتعديل المستمر. </a:t>
            </a:r>
            <a:br>
              <a:rPr sz="1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</a:br>
            <a:r>
              <a:rPr lang="en-US" sz="1800" b="0" strike="noStrike" spc="-1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1430" b="1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 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216;p21" descr="imag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-68544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169" name="Google Shape;217;p21"/>
          <p:cNvSpPr/>
          <p:nvPr/>
        </p:nvSpPr>
        <p:spPr>
          <a:xfrm>
            <a:off x="0" y="0"/>
            <a:ext cx="12191760" cy="11412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70" name="Google Shape;218;p21"/>
          <p:cNvSpPr/>
          <p:nvPr/>
        </p:nvSpPr>
        <p:spPr>
          <a:xfrm>
            <a:off x="762120" y="2770200"/>
            <a:ext cx="102866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257040" tIns="0" rIns="0" bIns="0" anchor="t">
            <a:spAutoFit/>
          </a:bodyPr>
          <a:p>
            <a:pPr algn="r">
              <a:lnSpc>
                <a:spcPct val="126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1E293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الحالة الطبية: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فرز الأشعة السينية لتحديد الأورام بالاعتماد على صور صنفها أخصائيون مسبقاً. </a:t>
            </a:r>
            <a:br>
              <a:rPr sz="1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</a:br>
            <a:r>
              <a:rPr lang="hi-IN" sz="1430" b="1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الحل الصحيح: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التعلم الخاضع للإشراف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(Supervised Learning)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لوجود مدخلات ومخرجات مصنفة مسبقاً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1" name="Google Shape;219;p21"/>
          <p:cNvSpPr/>
          <p:nvPr/>
        </p:nvSpPr>
        <p:spPr>
          <a:xfrm>
            <a:off x="762120" y="3587040"/>
            <a:ext cx="102866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285840" tIns="0" rIns="0" bIns="0" anchor="t">
            <a:spAutoFit/>
          </a:bodyPr>
          <a:p>
            <a:pPr algn="r">
              <a:lnSpc>
                <a:spcPct val="126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1E293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الحالة التجارية: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تنظيم قوائم آلاف المشترين لمتجر إلكتروني وتقسيمهم تلقائياً بناءً على تقارب سلوكهم الاستهلاكي. </a:t>
            </a:r>
            <a:br>
              <a:rPr sz="1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</a:br>
            <a:r>
              <a:rPr lang="hi-IN" sz="1430" b="1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الحل الصحيح: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التعلم غير الخاضع للإشراف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(Unsupervised Learning)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بهدف الكشف الذاتي عن العلاقات المخفية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2" name="Google Shape;220;p21"/>
          <p:cNvSpPr/>
          <p:nvPr/>
        </p:nvSpPr>
        <p:spPr>
          <a:xfrm>
            <a:off x="762120" y="4404240"/>
            <a:ext cx="1028664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228600" tIns="0" rIns="0" bIns="0" anchor="t">
            <a:spAutoFit/>
          </a:bodyPr>
          <a:p>
            <a:pPr algn="r">
              <a:lnSpc>
                <a:spcPct val="126000"/>
              </a:lnSpc>
              <a:tabLst>
                <a:tab pos="0" algn="l"/>
              </a:tabLst>
            </a:pPr>
            <a:r>
              <a:rPr lang="hi-IN" sz="1430" b="1" strike="noStrike" spc="-1">
                <a:solidFill>
                  <a:srgbClr val="1E293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الحالة الميكانيكية: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تعليم ذراع روبوت كيفية توازن عصا بذكاء عن طريق المحاولة والخطأ والتعديل المستمر. </a:t>
            </a:r>
            <a:br>
              <a:rPr sz="1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</a:br>
            <a:r>
              <a:rPr lang="hi-IN" sz="1430" b="1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الحل الصحيح: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التعلم المعزز </a:t>
            </a:r>
            <a:r>
              <a:rPr lang="en-US" sz="143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(Reinforcement Learning)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hi-IN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عبر التفاعل المباشر مع حركة العصا ونظام الجائزة</a:t>
            </a:r>
            <a:r>
              <a:rPr lang="en-US" sz="143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.</a:t>
            </a:r>
            <a:endParaRPr lang="en-US" sz="143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pic>
        <p:nvPicPr>
          <p:cNvPr id="173" name="Google Shape;221;p21" descr="imag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1172960" y="2808360"/>
            <a:ext cx="256680" cy="247320"/>
          </a:xfrm>
          <a:prstGeom prst="rect">
            <a:avLst/>
          </a:prstGeom>
          <a:ln w="0">
            <a:noFill/>
          </a:ln>
        </p:spPr>
      </p:pic>
      <p:pic>
        <p:nvPicPr>
          <p:cNvPr id="174" name="Google Shape;222;p21" descr="imag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1144160" y="3625200"/>
            <a:ext cx="285480" cy="247320"/>
          </a:xfrm>
          <a:prstGeom prst="rect">
            <a:avLst/>
          </a:prstGeom>
          <a:ln w="0">
            <a:noFill/>
          </a:ln>
        </p:spPr>
      </p:pic>
      <p:pic>
        <p:nvPicPr>
          <p:cNvPr id="175" name="Google Shape;223;p21" descr="image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1201400" y="4442400"/>
            <a:ext cx="228240" cy="247320"/>
          </a:xfrm>
          <a:prstGeom prst="rect">
            <a:avLst/>
          </a:prstGeom>
          <a:ln w="0">
            <a:noFill/>
          </a:ln>
        </p:spPr>
      </p:pic>
      <p:sp>
        <p:nvSpPr>
          <p:cNvPr id="176" name="Google Shape;224;p21"/>
          <p:cNvSpPr/>
          <p:nvPr/>
        </p:nvSpPr>
        <p:spPr>
          <a:xfrm>
            <a:off x="237960" y="685800"/>
            <a:ext cx="11000880" cy="434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hi-IN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تفاصيل وسيناريوهات الاختبار والحل</a:t>
            </a:r>
            <a:r>
              <a:rPr lang="en-US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lang="en-US" sz="2850" b="0" strike="noStrike" spc="-1">
                <a:solidFill>
                  <a:srgbClr val="0EA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(Wrap-up)</a:t>
            </a:r>
            <a:endParaRPr lang="en-US" sz="285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7" name="Google Shape;225;p21"/>
          <p:cNvSpPr/>
          <p:nvPr/>
        </p:nvSpPr>
        <p:spPr>
          <a:xfrm>
            <a:off x="11353680" y="685800"/>
            <a:ext cx="75960" cy="68544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230;p22" descr="image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760" cy="6857640"/>
          </a:xfrm>
          <a:prstGeom prst="rect">
            <a:avLst/>
          </a:prstGeom>
          <a:ln w="0">
            <a:noFill/>
          </a:ln>
        </p:spPr>
      </p:pic>
      <p:sp>
        <p:nvSpPr>
          <p:cNvPr id="179" name="Google Shape;231;p22"/>
          <p:cNvSpPr/>
          <p:nvPr/>
        </p:nvSpPr>
        <p:spPr>
          <a:xfrm>
            <a:off x="0" y="0"/>
            <a:ext cx="12191760" cy="11412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80" name="Google Shape;232;p22"/>
          <p:cNvSpPr/>
          <p:nvPr/>
        </p:nvSpPr>
        <p:spPr>
          <a:xfrm>
            <a:off x="762120" y="2724120"/>
            <a:ext cx="10667520" cy="784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81" name="Google Shape;233;p22"/>
          <p:cNvSpPr/>
          <p:nvPr/>
        </p:nvSpPr>
        <p:spPr>
          <a:xfrm>
            <a:off x="762120" y="3508920"/>
            <a:ext cx="10667520" cy="9824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82" name="Google Shape;234;p22"/>
          <p:cNvSpPr/>
          <p:nvPr/>
        </p:nvSpPr>
        <p:spPr>
          <a:xfrm>
            <a:off x="762120" y="3499560"/>
            <a:ext cx="1066752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83" name="Google Shape;235;p22"/>
          <p:cNvSpPr/>
          <p:nvPr/>
        </p:nvSpPr>
        <p:spPr>
          <a:xfrm>
            <a:off x="762120" y="3499560"/>
            <a:ext cx="1066752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84" name="Google Shape;236;p22"/>
          <p:cNvSpPr/>
          <p:nvPr/>
        </p:nvSpPr>
        <p:spPr>
          <a:xfrm>
            <a:off x="762120" y="4482360"/>
            <a:ext cx="1066752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85" name="Google Shape;237;p22"/>
          <p:cNvSpPr/>
          <p:nvPr/>
        </p:nvSpPr>
        <p:spPr>
          <a:xfrm>
            <a:off x="762120" y="4482360"/>
            <a:ext cx="10667520" cy="9000"/>
          </a:xfrm>
          <a:prstGeom prst="rect">
            <a:avLst/>
          </a:prstGeom>
          <a:solidFill>
            <a:srgbClr val="757575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tIns="4680" bIns="4680"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186" name="Google Shape;238;p22" descr="imag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10572840" y="2873880"/>
            <a:ext cx="856800" cy="475920"/>
          </a:xfrm>
          <a:prstGeom prst="rect">
            <a:avLst/>
          </a:prstGeom>
          <a:ln w="0">
            <a:noFill/>
          </a:ln>
        </p:spPr>
      </p:pic>
      <p:sp>
        <p:nvSpPr>
          <p:cNvPr id="187" name="Google Shape;239;p22"/>
          <p:cNvSpPr/>
          <p:nvPr/>
        </p:nvSpPr>
        <p:spPr>
          <a:xfrm>
            <a:off x="762120" y="2867040"/>
            <a:ext cx="95724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60000"/>
              </a:lnSpc>
              <a:tabLst>
                <a:tab pos="0" algn="l"/>
              </a:tabLst>
            </a:pPr>
            <a:r>
              <a:rPr lang="en-US" sz="98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</a:rPr>
              <a:t>https://upload.wikimedia.org/wikipedia/commons/thumb/4/46/Colored_neural_network.svg/1280px-Colored_neural_network.svg.png</a:t>
            </a:r>
            <a:endParaRPr lang="en-US" sz="980" b="0" strike="noStrike" spc="-1">
              <a:solidFill>
                <a:srgbClr val="47556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88" name="Google Shape;240;p22"/>
          <p:cNvSpPr/>
          <p:nvPr/>
        </p:nvSpPr>
        <p:spPr>
          <a:xfrm>
            <a:off x="762120" y="3112920"/>
            <a:ext cx="957240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6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</a:rPr>
              <a:t>Source: </a:t>
            </a:r>
            <a:r>
              <a:rPr lang="en-US" sz="1200" b="0" strike="noStrike" spc="-1">
                <a:solidFill>
                  <a:srgbClr val="4F46E5"/>
                </a:solidFill>
                <a:latin typeface="Microsoft YaHei" panose="020B0503020204020204" charset="-122"/>
                <a:ea typeface="Microsoft YaHei" panose="020B0503020204020204" charset="-122"/>
              </a:rPr>
              <a:t>en.wikipedia.org</a:t>
            </a:r>
            <a:endParaRPr lang="en-US" sz="12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189" name="Google Shape;241;p22" descr="imag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10572840" y="3757680"/>
            <a:ext cx="856800" cy="475920"/>
          </a:xfrm>
          <a:prstGeom prst="rect">
            <a:avLst/>
          </a:prstGeom>
          <a:ln w="0">
            <a:noFill/>
          </a:ln>
        </p:spPr>
      </p:pic>
      <p:sp>
        <p:nvSpPr>
          <p:cNvPr id="190" name="Google Shape;242;p22"/>
          <p:cNvSpPr/>
          <p:nvPr/>
        </p:nvSpPr>
        <p:spPr>
          <a:xfrm>
            <a:off x="762120" y="3651840"/>
            <a:ext cx="9572400" cy="4748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60000"/>
              </a:lnSpc>
              <a:tabLst>
                <a:tab pos="0" algn="l"/>
              </a:tabLst>
            </a:pPr>
            <a:r>
              <a:rPr lang="en-US" sz="98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</a:rPr>
              <a:t>https://static.wixstatic.com/media/faead9_8620614a114944e49c10c84b6ec2d256~mv2.png/v1/fill/w_588,h_588,al_c,q_85,usm_0.66_1.00_0.01,enc_avif,quality_auto/faead9_8620614a114944e49c10c84b6ec2d256~mv2.png</a:t>
            </a:r>
            <a:endParaRPr lang="en-US" sz="980" b="0" strike="noStrike" spc="-1">
              <a:solidFill>
                <a:srgbClr val="47556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91" name="Google Shape;243;p22"/>
          <p:cNvSpPr/>
          <p:nvPr/>
        </p:nvSpPr>
        <p:spPr>
          <a:xfrm>
            <a:off x="762120" y="4095720"/>
            <a:ext cx="957240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6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</a:rPr>
              <a:t>Source: </a:t>
            </a:r>
            <a:r>
              <a:rPr lang="en-US" sz="1200" b="0" strike="noStrike" spc="-1">
                <a:solidFill>
                  <a:srgbClr val="4F46E5"/>
                </a:solidFill>
                <a:latin typeface="Microsoft YaHei" panose="020B0503020204020204" charset="-122"/>
                <a:ea typeface="Microsoft YaHei" panose="020B0503020204020204" charset="-122"/>
              </a:rPr>
              <a:t>www.blueskyrobotics.ai</a:t>
            </a:r>
            <a:endParaRPr lang="en-US" sz="12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pic>
        <p:nvPicPr>
          <p:cNvPr id="192" name="Google Shape;244;p22" descr="image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0572840" y="4641480"/>
            <a:ext cx="856800" cy="475920"/>
          </a:xfrm>
          <a:prstGeom prst="rect">
            <a:avLst/>
          </a:prstGeom>
          <a:ln w="0">
            <a:noFill/>
          </a:ln>
        </p:spPr>
      </p:pic>
      <p:sp>
        <p:nvSpPr>
          <p:cNvPr id="193" name="Google Shape;245;p22"/>
          <p:cNvSpPr/>
          <p:nvPr/>
        </p:nvSpPr>
        <p:spPr>
          <a:xfrm>
            <a:off x="762120" y="4634640"/>
            <a:ext cx="95724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60000"/>
              </a:lnSpc>
              <a:tabLst>
                <a:tab pos="0" algn="l"/>
              </a:tabLst>
            </a:pPr>
            <a:r>
              <a:rPr lang="en-US" sz="98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</a:rPr>
              <a:t>https://analystprep.com/study-notes/wp-content/uploads/2021/03/Img_13.jpg</a:t>
            </a:r>
            <a:endParaRPr lang="en-US" sz="980" b="0" strike="noStrike" spc="-1">
              <a:solidFill>
                <a:srgbClr val="475569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94" name="Google Shape;246;p22"/>
          <p:cNvSpPr/>
          <p:nvPr/>
        </p:nvSpPr>
        <p:spPr>
          <a:xfrm>
            <a:off x="762120" y="4880520"/>
            <a:ext cx="957240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60000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475569"/>
                </a:solidFill>
                <a:latin typeface="Microsoft YaHei" panose="020B0503020204020204" charset="-122"/>
                <a:ea typeface="Microsoft YaHei" panose="020B0503020204020204" charset="-122"/>
              </a:rPr>
              <a:t>Source: </a:t>
            </a:r>
            <a:r>
              <a:rPr lang="en-US" sz="1200" b="0" strike="noStrike" spc="-1">
                <a:solidFill>
                  <a:srgbClr val="4F46E5"/>
                </a:solidFill>
                <a:latin typeface="Microsoft YaHei" panose="020B0503020204020204" charset="-122"/>
                <a:ea typeface="Microsoft YaHei" panose="020B0503020204020204" charset="-122"/>
              </a:rPr>
              <a:t>analystprep.com</a:t>
            </a:r>
            <a:endParaRPr lang="en-US" sz="1200" b="0" strike="noStrike" spc="-1">
              <a:solidFill>
                <a:srgbClr val="000000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95" name="Google Shape;247;p22"/>
          <p:cNvSpPr/>
          <p:nvPr/>
        </p:nvSpPr>
        <p:spPr>
          <a:xfrm>
            <a:off x="237960" y="685800"/>
            <a:ext cx="11000880" cy="43452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0" tIns="0" rIns="0" bIns="0" anchor="t">
            <a:spAutoFit/>
          </a:bodyPr>
          <a:p>
            <a:pPr algn="r">
              <a:lnSpc>
                <a:spcPct val="100000"/>
              </a:lnSpc>
              <a:tabLst>
                <a:tab pos="0" algn="l"/>
              </a:tabLst>
            </a:pPr>
            <a:r>
              <a:rPr lang="en-US" sz="2850" b="1" strike="noStrike" spc="-1">
                <a:solidFill>
                  <a:srgbClr val="0F172A"/>
                </a:solidFill>
                <a:latin typeface="Microsoft YaHei" panose="020B0503020204020204" charset="-122"/>
                <a:ea typeface="Microsoft YaHei" panose="020B0503020204020204" charset="-122"/>
              </a:rPr>
              <a:t>Image Sources</a:t>
            </a:r>
            <a:endParaRPr lang="en-US" sz="2850" b="1" strike="noStrike" spc="-1">
              <a:solidFill>
                <a:srgbClr val="0F172A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96" name="Google Shape;248;p22"/>
          <p:cNvSpPr/>
          <p:nvPr/>
        </p:nvSpPr>
        <p:spPr>
          <a:xfrm>
            <a:off x="11353680" y="685800"/>
            <a:ext cx="75960" cy="685440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4810</Words>
  <Application>WPS Presentation</Application>
  <PresentationFormat/>
  <Paragraphs>140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11</vt:i4>
      </vt:variant>
      <vt:variant>
        <vt:lpstr>幻灯片标题</vt:lpstr>
      </vt:variant>
      <vt:variant>
        <vt:i4>10</vt:i4>
      </vt:variant>
    </vt:vector>
  </HeadingPairs>
  <TitlesOfParts>
    <vt:vector size="35" baseType="lpstr">
      <vt:lpstr>Arial</vt:lpstr>
      <vt:lpstr>SimSun</vt:lpstr>
      <vt:lpstr>Wingdings</vt:lpstr>
      <vt:lpstr>Times New Roman</vt:lpstr>
      <vt:lpstr>Calibri</vt:lpstr>
      <vt:lpstr>Arial</vt:lpstr>
      <vt:lpstr>Symbol</vt:lpstr>
      <vt:lpstr>Cairo</vt:lpstr>
      <vt:lpstr>Segoe Print</vt:lpstr>
      <vt:lpstr>Cairo SemiBold</vt:lpstr>
      <vt:lpstr>Poppins SemiBold</vt:lpstr>
      <vt:lpstr>Poppins</vt:lpstr>
      <vt:lpstr>Microsoft YaHei</vt:lpstr>
      <vt:lpstr>Arial Unicode MS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chiko</cp:lastModifiedBy>
  <cp:revision>3</cp:revision>
  <dcterms:created xsi:type="dcterms:W3CDTF">2026-06-03T21:58:03Z</dcterms:created>
  <dcterms:modified xsi:type="dcterms:W3CDTF">2026-06-03T22:01:33Z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1033-12.1.0.26372</vt:lpwstr>
  </property>
  <property fmtid="{D5CDD505-2E9C-101B-9397-08002B2CF9AE}" pid="3" name="ICV">
    <vt:lpwstr>87649627D4A145DE82C002DE74E70A6F_12</vt:lpwstr>
  </property>
</Properties>
</file>