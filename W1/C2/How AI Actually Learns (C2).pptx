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_rels/presentation.xml.rels" ContentType="application/vnd.openxmlformats-package.relationships+xml"/>
  <Override PartName="/ppt/media/image13.png" ContentType="image/png"/>
  <Override PartName="/ppt/media/image4.png" ContentType="image/png"/>
  <Override PartName="/ppt/media/image9.png" ContentType="image/png"/>
  <Override PartName="/ppt/media/image18.png" ContentType="image/png"/>
  <Override PartName="/ppt/media/image20.png" ContentType="image/png"/>
  <Override PartName="/ppt/media/image12.png" ContentType="image/png"/>
  <Override PartName="/ppt/media/image3.png" ContentType="image/png"/>
  <Override PartName="/ppt/media/image8.png" ContentType="image/png"/>
  <Override PartName="/ppt/media/image17.png" ContentType="image/png"/>
  <Override PartName="/ppt/media/image22.png" ContentType="image/png"/>
  <Override PartName="/ppt/media/image21.png" ContentType="image/png"/>
  <Override PartName="/ppt/media/image19.png" ContentType="image/png"/>
  <Override PartName="/ppt/media/image5.png" ContentType="image/png"/>
  <Override PartName="/ppt/media/image14.png" ContentType="image/png"/>
  <Override PartName="/ppt/media/image6.png" ContentType="image/png"/>
  <Override PartName="/ppt/media/image15.png" ContentType="image/png"/>
  <Override PartName="/ppt/media/image10.png" ContentType="image/png"/>
  <Override PartName="/ppt/media/image1.png" ContentType="image/png"/>
  <Override PartName="/ppt/media/image16.png" ContentType="image/png"/>
  <Override PartName="/ppt/media/image7.png" ContentType="image/png"/>
  <Override PartName="/ppt/media/image2.png" ContentType="image/png"/>
  <Override PartName="/ppt/media/image11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0F56502-A261-40E5-AF95-517797738C7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496306F-E9CC-4AED-9C0E-4E0CA2D5664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1CA10E08-54FD-4526-85B5-C32B1E6AAC6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44C9D252-0FDB-48A7-BE48-8AF301E0EB7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D449A7E7-197D-4881-80C6-E9D70943CC4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BED634E4-80AC-4148-9F8F-356DE22A10A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EBB3DCA8-D1FD-403D-ADBE-2E41474C0AA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D3300E27-E7E8-4A65-9DA6-FD5203CB946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60CAC6F2-A1AC-4034-889E-324254056AE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FB7596CB-1A08-466E-8E11-997D51F8308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746E0167-0252-4AE7-B1EF-EC8C772BA0F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C551847-2052-4AAC-8856-238F7ACA8945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 rot="5400000">
            <a:off x="2309400" y="-251640"/>
            <a:ext cx="4525560" cy="8229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4992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7D89944-0EFE-49A4-933F-C4BBCF4BAE42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 rot="5400000">
            <a:off x="4732560" y="2171520"/>
            <a:ext cx="5851080" cy="205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 rot="5400000">
            <a:off x="541800" y="190080"/>
            <a:ext cx="5851080" cy="6019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FBABA0D-FC0F-43B7-88D5-EF294D46C581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D70203D-B061-4577-BB6E-83B36D30FF7D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816AFF6-FB13-4AB1-8A21-9F486F028BF0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>
              <a:buNone/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4347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7AA5536-2CB4-4ACE-9146-F978C8900469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4983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4983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786259B-F929-4B51-9F6F-87EABDE6796E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6247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4970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6247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4970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6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7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8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D207A03-BB3A-49E9-B1F6-40BE6F2B97EB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EEC1F09-5B57-4823-8935-36CC158CD4A6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3740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4983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15C3F13-295B-4918-9AEC-8D34B3AAA11F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24994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2D3FF4C-D050-42EC-9F7E-088CA24E23D9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5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16.png"/><Relationship Id="rId4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84;p13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sp>
        <p:nvSpPr>
          <p:cNvPr id="68" name="Google Shape;85;p13"/>
          <p:cNvSpPr/>
          <p:nvPr/>
        </p:nvSpPr>
        <p:spPr>
          <a:xfrm>
            <a:off x="0" y="0"/>
            <a:ext cx="12191760" cy="114120"/>
          </a:xfrm>
          <a:prstGeom prst="rect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Google Shape;86;p13"/>
          <p:cNvSpPr/>
          <p:nvPr/>
        </p:nvSpPr>
        <p:spPr>
          <a:xfrm>
            <a:off x="1295280" y="2300400"/>
            <a:ext cx="9600840" cy="82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20000"/>
              </a:lnSpc>
              <a:tabLst>
                <a:tab algn="l" pos="0"/>
              </a:tabLst>
            </a:pPr>
            <a:r>
              <a:rPr b="1" lang="hi-IN" sz="4500" spc="-1" strike="noStrike">
                <a:solidFill>
                  <a:srgbClr val="0f172a"/>
                </a:solidFill>
                <a:latin typeface="Cairo"/>
                <a:cs typeface="Cairo"/>
              </a:rPr>
              <a:t>كيف يتعلم الذكاء الاصطناعي فعلياً؟</a:t>
            </a:r>
            <a:endParaRPr b="0" lang="en-US" sz="4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Google Shape;87;p13"/>
          <p:cNvSpPr/>
          <p:nvPr/>
        </p:nvSpPr>
        <p:spPr>
          <a:xfrm>
            <a:off x="1523880" y="3176640"/>
            <a:ext cx="9143640" cy="50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59000"/>
              </a:lnSpc>
              <a:tabLst>
                <a:tab algn="l" pos="0"/>
              </a:tabLst>
            </a:pPr>
            <a:r>
              <a:rPr b="0" lang="en-US" sz="2100" spc="-1" strike="noStrike">
                <a:solidFill>
                  <a:srgbClr val="64748b"/>
                </a:solidFill>
                <a:latin typeface="Cairo"/>
                <a:ea typeface="Cairo"/>
              </a:rPr>
              <a:t>How AI Actually Learns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Google Shape;88;p13"/>
          <p:cNvSpPr/>
          <p:nvPr/>
        </p:nvSpPr>
        <p:spPr>
          <a:xfrm>
            <a:off x="5524560" y="3889080"/>
            <a:ext cx="1142640" cy="47160"/>
          </a:xfrm>
          <a:prstGeom prst="rect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23760" bIns="2376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Google Shape;89;p13"/>
          <p:cNvSpPr/>
          <p:nvPr/>
        </p:nvSpPr>
        <p:spPr>
          <a:xfrm>
            <a:off x="1523880" y="4222440"/>
            <a:ext cx="9143640" cy="40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60000"/>
              </a:lnSpc>
              <a:tabLst>
                <a:tab algn="l" pos="0"/>
              </a:tabLst>
            </a:pPr>
            <a:r>
              <a:rPr b="0" lang="hi-IN" sz="1650" spc="-1" strike="noStrike">
                <a:solidFill>
                  <a:srgbClr val="475569"/>
                </a:solidFill>
                <a:latin typeface="Cairo SemiBold"/>
                <a:cs typeface="Cairo SemiBold"/>
              </a:rPr>
              <a:t>المحاضرة الثانية • </a:t>
            </a:r>
            <a:r>
              <a:rPr b="0" lang="en-US" sz="1650" spc="-1" strike="noStrike">
                <a:solidFill>
                  <a:srgbClr val="475569"/>
                </a:solidFill>
                <a:latin typeface="Cairo SemiBold"/>
                <a:ea typeface="Cairo SemiBold"/>
              </a:rPr>
              <a:t>90</a:t>
            </a:r>
            <a:r>
              <a:rPr b="0" lang="en-US" sz="1650" spc="-1" strike="noStrike">
                <a:solidFill>
                  <a:srgbClr val="475569"/>
                </a:solidFill>
                <a:latin typeface="Cairo SemiBold"/>
                <a:ea typeface="Cairo SemiBold"/>
              </a:rPr>
              <a:t> دقيقة</a:t>
            </a:r>
            <a:r>
              <a:rPr b="0" lang="en-US" sz="1650" spc="-1" strike="noStrike">
                <a:solidFill>
                  <a:srgbClr val="475569"/>
                </a:solidFill>
                <a:latin typeface="Cairo SemiBold"/>
                <a:ea typeface="Cairo SemiBold"/>
              </a:rPr>
              <a:t> </a:t>
            </a:r>
            <a:r>
              <a:rPr b="0" lang="en-US" sz="1650" spc="-1" strike="noStrike">
                <a:solidFill>
                  <a:srgbClr val="475569"/>
                </a:solidFill>
                <a:latin typeface="Cairo SemiBold"/>
                <a:ea typeface="Cairo SemiBold"/>
              </a:rPr>
              <a:t>(Class 2 • 90 Min)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94;p14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74" name="Google Shape;95;p14" descr="image.png"/>
          <p:cNvPicPr/>
          <p:nvPr/>
        </p:nvPicPr>
        <p:blipFill>
          <a:blip r:embed="rId2"/>
          <a:stretch/>
        </p:blipFill>
        <p:spPr>
          <a:xfrm>
            <a:off x="762120" y="2185920"/>
            <a:ext cx="5143320" cy="3619080"/>
          </a:xfrm>
          <a:prstGeom prst="rect">
            <a:avLst/>
          </a:prstGeom>
          <a:ln w="0">
            <a:noFill/>
          </a:ln>
        </p:spPr>
      </p:pic>
      <p:sp>
        <p:nvSpPr>
          <p:cNvPr id="75" name="Google Shape;96;p14"/>
          <p:cNvSpPr/>
          <p:nvPr/>
        </p:nvSpPr>
        <p:spPr>
          <a:xfrm>
            <a:off x="0" y="0"/>
            <a:ext cx="12191760" cy="114120"/>
          </a:xfrm>
          <a:prstGeom prst="rect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Google Shape;97;p14"/>
          <p:cNvSpPr/>
          <p:nvPr/>
        </p:nvSpPr>
        <p:spPr>
          <a:xfrm>
            <a:off x="6286680" y="2216880"/>
            <a:ext cx="5400360" cy="29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hi-IN" sz="1950" spc="-1" strike="noStrike">
                <a:solidFill>
                  <a:srgbClr val="0f172a"/>
                </a:solidFill>
                <a:latin typeface="Cairo SemiBold"/>
                <a:cs typeface="Cairo SemiBold"/>
              </a:rPr>
              <a:t>كيف يستوعب الذكاء الاصطناعي البيانات؟</a:t>
            </a: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Google Shape;98;p14"/>
          <p:cNvSpPr/>
          <p:nvPr/>
        </p:nvSpPr>
        <p:spPr>
          <a:xfrm>
            <a:off x="6286680" y="2826360"/>
            <a:ext cx="5143320" cy="69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59000"/>
              </a:lnSpc>
              <a:tabLst>
                <a:tab algn="l" pos="0"/>
              </a:tabLst>
            </a:pPr>
            <a:r>
              <a:rPr b="1" lang="hi-IN" sz="1430" spc="-1" strike="noStrike">
                <a:solidFill>
                  <a:srgbClr val="475569"/>
                </a:solidFill>
                <a:latin typeface="Cairo"/>
                <a:cs typeface="Cairo"/>
              </a:rPr>
              <a:t>طالب عبقري:</a:t>
            </a:r>
            <a:r>
              <a:rPr b="0" lang="en-US" sz="1430" spc="-1" strike="noStrike">
                <a:solidFill>
                  <a:srgbClr val="475569"/>
                </a:solidFill>
                <a:latin typeface="Cairo"/>
                <a:ea typeface="Cairo"/>
              </a:rPr>
              <a:t> تخيل الذكاء الاصطناعي كطالب فائق الذكاء يقوم بمطالعة ملايين الكتب، المقالات، والأمثلة المحلولة سابقاً بتركيز غير مسبوق</a:t>
            </a:r>
            <a:r>
              <a:rPr b="0" lang="en-US" sz="1430" spc="-1" strike="noStrike">
                <a:solidFill>
                  <a:srgbClr val="475569"/>
                </a:solidFill>
                <a:latin typeface="Cairo"/>
                <a:ea typeface="Cairo"/>
              </a:rPr>
              <a:t>.</a:t>
            </a:r>
            <a:endParaRPr b="0" lang="en-US" sz="14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Google Shape;99;p14"/>
          <p:cNvSpPr/>
          <p:nvPr/>
        </p:nvSpPr>
        <p:spPr>
          <a:xfrm>
            <a:off x="6286680" y="3809160"/>
            <a:ext cx="5143320" cy="69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59000"/>
              </a:lnSpc>
              <a:tabLst>
                <a:tab algn="l" pos="0"/>
              </a:tabLst>
            </a:pPr>
            <a:r>
              <a:rPr b="1" lang="hi-IN" sz="1430" spc="-1" strike="noStrike">
                <a:solidFill>
                  <a:srgbClr val="475569"/>
                </a:solidFill>
                <a:latin typeface="Cairo"/>
                <a:cs typeface="Cairo"/>
              </a:rPr>
              <a:t>استخلاص الروابط:</a:t>
            </a:r>
            <a:r>
              <a:rPr b="0" lang="en-US" sz="1430" spc="-1" strike="noStrike">
                <a:solidFill>
                  <a:srgbClr val="475569"/>
                </a:solidFill>
                <a:latin typeface="Cairo"/>
                <a:ea typeface="Cairo"/>
              </a:rPr>
              <a:t> هو لا يقوم بحفظ النصوص أو الأرقام حرفياً، بل يدرس العلاقات المشتركة ليستخلص الروابط الخفية والأنماط الهيكلية</a:t>
            </a:r>
            <a:r>
              <a:rPr b="0" lang="en-US" sz="1430" spc="-1" strike="noStrike">
                <a:solidFill>
                  <a:srgbClr val="475569"/>
                </a:solidFill>
                <a:latin typeface="Cairo"/>
                <a:ea typeface="Cairo"/>
              </a:rPr>
              <a:t> </a:t>
            </a:r>
            <a:r>
              <a:rPr b="0" lang="en-US" sz="1430" spc="-1" strike="noStrike">
                <a:solidFill>
                  <a:srgbClr val="0ea5e9"/>
                </a:solidFill>
                <a:latin typeface="Cairo SemiBold"/>
                <a:ea typeface="Cairo SemiBold"/>
              </a:rPr>
              <a:t>(Patterns)</a:t>
            </a:r>
            <a:r>
              <a:rPr b="0" lang="en-US" sz="1430" spc="-1" strike="noStrike">
                <a:solidFill>
                  <a:srgbClr val="475569"/>
                </a:solidFill>
                <a:latin typeface="Cairo"/>
                <a:ea typeface="Cairo"/>
              </a:rPr>
              <a:t>.</a:t>
            </a:r>
            <a:endParaRPr b="0" lang="en-US" sz="14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Google Shape;100;p14"/>
          <p:cNvSpPr/>
          <p:nvPr/>
        </p:nvSpPr>
        <p:spPr>
          <a:xfrm>
            <a:off x="6286680" y="4791960"/>
            <a:ext cx="5143320" cy="69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59000"/>
              </a:lnSpc>
              <a:tabLst>
                <a:tab algn="l" pos="0"/>
              </a:tabLst>
            </a:pPr>
            <a:r>
              <a:rPr b="1" lang="hi-IN" sz="1430" spc="-1" strike="noStrike">
                <a:solidFill>
                  <a:srgbClr val="475569"/>
                </a:solidFill>
                <a:latin typeface="Cairo"/>
                <a:cs typeface="Cairo"/>
              </a:rPr>
              <a:t>حل المشكلات الجديدة:</a:t>
            </a:r>
            <a:r>
              <a:rPr b="0" lang="en-US" sz="1430" spc="-1" strike="noStrike">
                <a:solidFill>
                  <a:srgbClr val="475569"/>
                </a:solidFill>
                <a:latin typeface="Cairo"/>
                <a:ea typeface="Cairo"/>
              </a:rPr>
              <a:t> عند الانتهاء من الدراسة، يصبح بمقدور هذا "الطالب الرقمي" حل مسائل جديدة كلياً لم يصادفها قط أثناء مرحلة تدريبه</a:t>
            </a:r>
            <a:r>
              <a:rPr b="0" lang="en-US" sz="1430" spc="-1" strike="noStrike">
                <a:solidFill>
                  <a:srgbClr val="475569"/>
                </a:solidFill>
                <a:latin typeface="Cairo"/>
                <a:ea typeface="Cairo"/>
              </a:rPr>
              <a:t>.</a:t>
            </a:r>
            <a:endParaRPr b="0" lang="en-US" sz="143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0" name="Google Shape;101;p14" descr="image.png"/>
          <p:cNvPicPr/>
          <p:nvPr/>
        </p:nvPicPr>
        <p:blipFill>
          <a:blip r:embed="rId3"/>
          <a:stretch/>
        </p:blipFill>
        <p:spPr>
          <a:xfrm>
            <a:off x="771480" y="2195640"/>
            <a:ext cx="5124240" cy="3600000"/>
          </a:xfrm>
          <a:prstGeom prst="rect">
            <a:avLst/>
          </a:prstGeom>
          <a:ln w="0">
            <a:noFill/>
          </a:ln>
        </p:spPr>
      </p:pic>
      <p:sp>
        <p:nvSpPr>
          <p:cNvPr id="81" name="Google Shape;102;p14"/>
          <p:cNvSpPr/>
          <p:nvPr/>
        </p:nvSpPr>
        <p:spPr>
          <a:xfrm>
            <a:off x="237960" y="685800"/>
            <a:ext cx="11000880" cy="43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1" lang="hi-IN" sz="2850" spc="-1" strike="noStrike">
                <a:solidFill>
                  <a:srgbClr val="0f172a"/>
                </a:solidFill>
                <a:latin typeface="Cairo"/>
                <a:cs typeface="Cairo"/>
              </a:rPr>
              <a:t>التشبيه الأساسي لتعلم الآلة</a:t>
            </a:r>
            <a:r>
              <a:rPr b="1" lang="en-US" sz="2850" spc="-1" strike="noStrike">
                <a:solidFill>
                  <a:srgbClr val="0f172a"/>
                </a:solidFill>
                <a:latin typeface="Cairo"/>
                <a:ea typeface="Cairo"/>
              </a:rPr>
              <a:t> </a:t>
            </a:r>
            <a:r>
              <a:rPr b="0" lang="en-US" sz="2850" spc="-1" strike="noStrike">
                <a:solidFill>
                  <a:srgbClr val="0ea5e9"/>
                </a:solidFill>
                <a:latin typeface="Cairo SemiBold"/>
                <a:ea typeface="Cairo SemiBold"/>
              </a:rPr>
              <a:t>(The Learning Analogy)</a:t>
            </a:r>
            <a:endParaRPr b="0" lang="en-US" sz="2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Google Shape;103;p14"/>
          <p:cNvSpPr/>
          <p:nvPr/>
        </p:nvSpPr>
        <p:spPr>
          <a:xfrm>
            <a:off x="11353680" y="685800"/>
            <a:ext cx="75960" cy="685440"/>
          </a:xfrm>
          <a:prstGeom prst="rect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108;p15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84" name="Google Shape;109;p15" descr="image.png"/>
          <p:cNvPicPr/>
          <p:nvPr/>
        </p:nvPicPr>
        <p:blipFill>
          <a:blip r:embed="rId2"/>
          <a:stretch/>
        </p:blipFill>
        <p:spPr>
          <a:xfrm>
            <a:off x="6286680" y="1879560"/>
            <a:ext cx="5143320" cy="4232160"/>
          </a:xfrm>
          <a:prstGeom prst="rect">
            <a:avLst/>
          </a:prstGeom>
          <a:ln w="0">
            <a:noFill/>
          </a:ln>
        </p:spPr>
      </p:pic>
      <p:pic>
        <p:nvPicPr>
          <p:cNvPr id="85" name="Google Shape;110;p15" descr="image.png"/>
          <p:cNvPicPr/>
          <p:nvPr/>
        </p:nvPicPr>
        <p:blipFill>
          <a:blip r:embed="rId3"/>
          <a:stretch/>
        </p:blipFill>
        <p:spPr>
          <a:xfrm>
            <a:off x="762120" y="1879560"/>
            <a:ext cx="5143320" cy="4232160"/>
          </a:xfrm>
          <a:prstGeom prst="rect">
            <a:avLst/>
          </a:prstGeom>
          <a:ln w="0">
            <a:noFill/>
          </a:ln>
        </p:spPr>
      </p:pic>
      <p:sp>
        <p:nvSpPr>
          <p:cNvPr id="86" name="Google Shape;111;p15"/>
          <p:cNvSpPr/>
          <p:nvPr/>
        </p:nvSpPr>
        <p:spPr>
          <a:xfrm>
            <a:off x="0" y="0"/>
            <a:ext cx="12191760" cy="114120"/>
          </a:xfrm>
          <a:prstGeom prst="rect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Google Shape;112;p15"/>
          <p:cNvSpPr/>
          <p:nvPr/>
        </p:nvSpPr>
        <p:spPr>
          <a:xfrm>
            <a:off x="6406560" y="3079800"/>
            <a:ext cx="4680360" cy="29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hi-IN" sz="1950" spc="-1" strike="noStrike">
                <a:solidFill>
                  <a:srgbClr val="0ea5e9"/>
                </a:solidFill>
                <a:latin typeface="Cairo SemiBold"/>
                <a:cs typeface="Cairo SemiBold"/>
              </a:rPr>
              <a:t>التصنيف</a:t>
            </a:r>
            <a:r>
              <a:rPr b="0" lang="en-US" sz="1950" spc="-1" strike="noStrike">
                <a:solidFill>
                  <a:srgbClr val="0ea5e9"/>
                </a:solidFill>
                <a:latin typeface="Cairo SemiBold"/>
                <a:ea typeface="Cairo SemiBold"/>
              </a:rPr>
              <a:t> </a:t>
            </a:r>
            <a:r>
              <a:rPr b="0" lang="en-US" sz="1950" spc="-1" strike="noStrike">
                <a:solidFill>
                  <a:srgbClr val="0ea5e9"/>
                </a:solidFill>
                <a:latin typeface="Cairo SemiBold"/>
                <a:ea typeface="Cairo SemiBold"/>
              </a:rPr>
              <a:t>(Classification)</a:t>
            </a: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Google Shape;113;p15"/>
          <p:cNvSpPr/>
          <p:nvPr/>
        </p:nvSpPr>
        <p:spPr>
          <a:xfrm>
            <a:off x="6629400" y="3689280"/>
            <a:ext cx="4457520" cy="34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59000"/>
              </a:lnSpc>
              <a:tabLst>
                <a:tab algn="l" pos="0"/>
              </a:tabLst>
            </a:pPr>
            <a:r>
              <a:rPr b="0" lang="hi-IN" sz="1430" spc="-1" strike="noStrike">
                <a:solidFill>
                  <a:srgbClr val="0f172a"/>
                </a:solidFill>
                <a:latin typeface="Cairo SemiBold"/>
                <a:cs typeface="Cairo SemiBold"/>
              </a:rPr>
              <a:t>الإجابة هنا تكون عبارة عن فئة محددة أو خيار مستقل</a:t>
            </a:r>
            <a:r>
              <a:rPr b="0" lang="en-US" sz="1430" spc="-1" strike="noStrike">
                <a:solidFill>
                  <a:srgbClr val="0f172a"/>
                </a:solidFill>
                <a:latin typeface="Cairo SemiBold"/>
                <a:ea typeface="Cairo SemiBold"/>
              </a:rPr>
              <a:t>:</a:t>
            </a:r>
            <a:endParaRPr b="0" lang="en-US" sz="14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Google Shape;114;p15"/>
          <p:cNvSpPr/>
          <p:nvPr/>
        </p:nvSpPr>
        <p:spPr>
          <a:xfrm>
            <a:off x="6629400" y="4093200"/>
            <a:ext cx="4457520" cy="69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59000"/>
              </a:lnSpc>
              <a:tabLst>
                <a:tab algn="l" pos="0"/>
              </a:tabLst>
            </a:pPr>
            <a:r>
              <a:rPr b="0" lang="hi-IN" sz="1430" spc="-1" strike="noStrike">
                <a:solidFill>
                  <a:srgbClr val="475569"/>
                </a:solidFill>
                <a:latin typeface="Cairo"/>
                <a:cs typeface="Cairo"/>
              </a:rPr>
              <a:t>الآلة تقوم بتقسيم البيانات إلى فئات منفصلة ومغلقة</a:t>
            </a:r>
            <a:r>
              <a:rPr b="0" lang="en-US" sz="1430" spc="-1" strike="noStrike">
                <a:solidFill>
                  <a:srgbClr val="475569"/>
                </a:solidFill>
                <a:latin typeface="Cairo"/>
                <a:ea typeface="Cairo"/>
              </a:rPr>
              <a:t> </a:t>
            </a:r>
            <a:r>
              <a:rPr b="0" lang="en-US" sz="1430" spc="-1" strike="noStrike">
                <a:solidFill>
                  <a:srgbClr val="0ea5e9"/>
                </a:solidFill>
                <a:latin typeface="Cairo SemiBold"/>
                <a:ea typeface="Cairo SemiBold"/>
              </a:rPr>
              <a:t>(Discrete Categories)</a:t>
            </a:r>
            <a:r>
              <a:rPr b="0" lang="en-US" sz="1430" spc="-1" strike="noStrike">
                <a:solidFill>
                  <a:srgbClr val="475569"/>
                </a:solidFill>
                <a:latin typeface="Cairo"/>
                <a:ea typeface="Cairo"/>
              </a:rPr>
              <a:t>.</a:t>
            </a:r>
            <a:endParaRPr b="0" lang="en-US" sz="14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Google Shape;115;p15"/>
          <p:cNvSpPr/>
          <p:nvPr/>
        </p:nvSpPr>
        <p:spPr>
          <a:xfrm>
            <a:off x="6629400" y="4786200"/>
            <a:ext cx="4457520" cy="69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59000"/>
              </a:lnSpc>
              <a:tabLst>
                <a:tab algn="l" pos="0"/>
              </a:tabLst>
            </a:pPr>
            <a:r>
              <a:rPr b="1" lang="hi-IN" sz="1430" spc="-1" strike="noStrike">
                <a:solidFill>
                  <a:srgbClr val="475569"/>
                </a:solidFill>
                <a:latin typeface="Cairo"/>
                <a:cs typeface="Cairo"/>
              </a:rPr>
              <a:t>مثال توضيحي:</a:t>
            </a:r>
            <a:r>
              <a:rPr b="0" lang="en-US" sz="1430" spc="-1" strike="noStrike">
                <a:solidFill>
                  <a:srgbClr val="475569"/>
                </a:solidFill>
                <a:latin typeface="Cairo"/>
                <a:ea typeface="Cairo"/>
              </a:rPr>
              <a:t> فرز رسائل البريد الإلكتروني الواردة وتصنيفها إما كبريد مزعج</a:t>
            </a:r>
            <a:r>
              <a:rPr b="0" lang="en-US" sz="1430" spc="-1" strike="noStrike">
                <a:solidFill>
                  <a:srgbClr val="475569"/>
                </a:solidFill>
                <a:latin typeface="Cairo"/>
                <a:ea typeface="Cairo"/>
              </a:rPr>
              <a:t> </a:t>
            </a:r>
            <a:r>
              <a:rPr b="0" lang="en-US" sz="1430" spc="-1" strike="noStrike">
                <a:solidFill>
                  <a:srgbClr val="0ea5e9"/>
                </a:solidFill>
                <a:latin typeface="Cairo SemiBold"/>
                <a:ea typeface="Cairo SemiBold"/>
              </a:rPr>
              <a:t>(Spam)</a:t>
            </a:r>
            <a:r>
              <a:rPr b="0" lang="en-US" sz="1430" spc="-1" strike="noStrike">
                <a:solidFill>
                  <a:srgbClr val="475569"/>
                </a:solidFill>
                <a:latin typeface="Cairo"/>
                <a:ea typeface="Cairo"/>
              </a:rPr>
              <a:t> </a:t>
            </a:r>
            <a:r>
              <a:rPr b="0" lang="hi-IN" sz="1430" spc="-1" strike="noStrike">
                <a:solidFill>
                  <a:srgbClr val="475569"/>
                </a:solidFill>
                <a:latin typeface="Cairo"/>
                <a:cs typeface="Cairo"/>
              </a:rPr>
              <a:t>أو بريد طبيعي</a:t>
            </a:r>
            <a:r>
              <a:rPr b="0" lang="en-US" sz="1430" spc="-1" strike="noStrike">
                <a:solidFill>
                  <a:srgbClr val="475569"/>
                </a:solidFill>
                <a:latin typeface="Cairo"/>
                <a:ea typeface="Cairo"/>
              </a:rPr>
              <a:t> </a:t>
            </a:r>
            <a:r>
              <a:rPr b="0" lang="en-US" sz="1430" spc="-1" strike="noStrike">
                <a:solidFill>
                  <a:srgbClr val="0ea5e9"/>
                </a:solidFill>
                <a:latin typeface="Cairo SemiBold"/>
                <a:ea typeface="Cairo SemiBold"/>
              </a:rPr>
              <a:t>(Ham)</a:t>
            </a:r>
            <a:r>
              <a:rPr b="0" lang="en-US" sz="1430" spc="-1" strike="noStrike">
                <a:solidFill>
                  <a:srgbClr val="475569"/>
                </a:solidFill>
                <a:latin typeface="Cairo"/>
                <a:ea typeface="Cairo"/>
              </a:rPr>
              <a:t>.</a:t>
            </a:r>
            <a:endParaRPr b="0" lang="en-US" sz="14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Google Shape;116;p15"/>
          <p:cNvSpPr/>
          <p:nvPr/>
        </p:nvSpPr>
        <p:spPr>
          <a:xfrm>
            <a:off x="882000" y="3079800"/>
            <a:ext cx="4680360" cy="29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hi-IN" sz="1950" spc="-1" strike="noStrike">
                <a:solidFill>
                  <a:srgbClr val="0ea5e9"/>
                </a:solidFill>
                <a:latin typeface="Cairo SemiBold"/>
                <a:cs typeface="Cairo SemiBold"/>
              </a:rPr>
              <a:t>الانحدار</a:t>
            </a:r>
            <a:r>
              <a:rPr b="0" lang="en-US" sz="1950" spc="-1" strike="noStrike">
                <a:solidFill>
                  <a:srgbClr val="0ea5e9"/>
                </a:solidFill>
                <a:latin typeface="Cairo SemiBold"/>
                <a:ea typeface="Cairo SemiBold"/>
              </a:rPr>
              <a:t> </a:t>
            </a:r>
            <a:r>
              <a:rPr b="0" lang="en-US" sz="1950" spc="-1" strike="noStrike">
                <a:solidFill>
                  <a:srgbClr val="0ea5e9"/>
                </a:solidFill>
                <a:latin typeface="Cairo SemiBold"/>
                <a:ea typeface="Cairo SemiBold"/>
              </a:rPr>
              <a:t>(Regression)</a:t>
            </a: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Google Shape;117;p15"/>
          <p:cNvSpPr/>
          <p:nvPr/>
        </p:nvSpPr>
        <p:spPr>
          <a:xfrm>
            <a:off x="1104840" y="3689280"/>
            <a:ext cx="4457520" cy="34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59000"/>
              </a:lnSpc>
              <a:tabLst>
                <a:tab algn="l" pos="0"/>
              </a:tabLst>
            </a:pPr>
            <a:r>
              <a:rPr b="0" lang="hi-IN" sz="1430" spc="-1" strike="noStrike">
                <a:solidFill>
                  <a:srgbClr val="0f172a"/>
                </a:solidFill>
                <a:latin typeface="Cairo SemiBold"/>
                <a:cs typeface="Cairo SemiBold"/>
              </a:rPr>
              <a:t>الإجابة هنا تكون عبارة عن رقم مستمر أو قيمة عددية</a:t>
            </a:r>
            <a:r>
              <a:rPr b="0" lang="en-US" sz="1430" spc="-1" strike="noStrike">
                <a:solidFill>
                  <a:srgbClr val="0f172a"/>
                </a:solidFill>
                <a:latin typeface="Cairo SemiBold"/>
                <a:ea typeface="Cairo SemiBold"/>
              </a:rPr>
              <a:t>:</a:t>
            </a:r>
            <a:endParaRPr b="0" lang="en-US" sz="14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Google Shape;118;p15"/>
          <p:cNvSpPr/>
          <p:nvPr/>
        </p:nvSpPr>
        <p:spPr>
          <a:xfrm>
            <a:off x="1104840" y="4093200"/>
            <a:ext cx="4457520" cy="69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59000"/>
              </a:lnSpc>
              <a:tabLst>
                <a:tab algn="l" pos="0"/>
              </a:tabLst>
            </a:pPr>
            <a:r>
              <a:rPr b="0" lang="hi-IN" sz="1430" spc="-1" strike="noStrike">
                <a:solidFill>
                  <a:srgbClr val="475569"/>
                </a:solidFill>
                <a:latin typeface="Cairo"/>
                <a:cs typeface="Cairo"/>
              </a:rPr>
              <a:t>الآلة تقوم بالتنبؤ بقيمة رقمية متغيرة وغير محددة مسبقاً بفئات</a:t>
            </a:r>
            <a:r>
              <a:rPr b="0" lang="en-US" sz="1430" spc="-1" strike="noStrike">
                <a:solidFill>
                  <a:srgbClr val="475569"/>
                </a:solidFill>
                <a:latin typeface="Cairo"/>
                <a:ea typeface="Cairo"/>
              </a:rPr>
              <a:t> </a:t>
            </a:r>
            <a:r>
              <a:rPr b="0" lang="en-US" sz="1430" spc="-1" strike="noStrike">
                <a:solidFill>
                  <a:srgbClr val="0ea5e9"/>
                </a:solidFill>
                <a:latin typeface="Cairo SemiBold"/>
                <a:ea typeface="Cairo SemiBold"/>
              </a:rPr>
              <a:t>(Continuous Values)</a:t>
            </a:r>
            <a:r>
              <a:rPr b="0" lang="en-US" sz="1430" spc="-1" strike="noStrike">
                <a:solidFill>
                  <a:srgbClr val="475569"/>
                </a:solidFill>
                <a:latin typeface="Cairo"/>
                <a:ea typeface="Cairo"/>
              </a:rPr>
              <a:t>.</a:t>
            </a:r>
            <a:endParaRPr b="0" lang="en-US" sz="14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Google Shape;119;p15"/>
          <p:cNvSpPr/>
          <p:nvPr/>
        </p:nvSpPr>
        <p:spPr>
          <a:xfrm>
            <a:off x="1104840" y="4786200"/>
            <a:ext cx="4457520" cy="69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59000"/>
              </a:lnSpc>
              <a:tabLst>
                <a:tab algn="l" pos="0"/>
              </a:tabLst>
            </a:pPr>
            <a:r>
              <a:rPr b="1" lang="hi-IN" sz="1430" spc="-1" strike="noStrike">
                <a:solidFill>
                  <a:srgbClr val="475569"/>
                </a:solidFill>
                <a:latin typeface="Cairo"/>
                <a:cs typeface="Cairo"/>
              </a:rPr>
              <a:t>مثال توضيحي:</a:t>
            </a:r>
            <a:r>
              <a:rPr b="0" lang="en-US" sz="1430" spc="-1" strike="noStrike">
                <a:solidFill>
                  <a:srgbClr val="475569"/>
                </a:solidFill>
                <a:latin typeface="Cairo"/>
                <a:ea typeface="Cairo"/>
              </a:rPr>
              <a:t> تقدير السعر المستقبلي لمنزل ما بناءً على مساحته وموقعه الجغرافي (تكون النتيجة رقم مثل </a:t>
            </a:r>
            <a:r>
              <a:rPr b="0" lang="en-US" sz="1430" spc="-1" strike="noStrike">
                <a:solidFill>
                  <a:srgbClr val="475569"/>
                </a:solidFill>
                <a:latin typeface="Cairo"/>
                <a:ea typeface="Cairo"/>
              </a:rPr>
              <a:t>250,000</a:t>
            </a:r>
            <a:r>
              <a:rPr b="0" lang="en-US" sz="1430" spc="-1" strike="noStrike">
                <a:solidFill>
                  <a:srgbClr val="475569"/>
                </a:solidFill>
                <a:latin typeface="Cairo"/>
                <a:ea typeface="Cairo"/>
              </a:rPr>
              <a:t>$)</a:t>
            </a:r>
            <a:r>
              <a:rPr b="0" lang="en-US" sz="1430" spc="-1" strike="noStrike">
                <a:solidFill>
                  <a:srgbClr val="475569"/>
                </a:solidFill>
                <a:latin typeface="Cairo"/>
                <a:ea typeface="Cairo"/>
              </a:rPr>
              <a:t>.</a:t>
            </a:r>
            <a:endParaRPr b="0" lang="en-US" sz="143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5" name="Google Shape;120;p15" descr="image.png"/>
          <p:cNvPicPr/>
          <p:nvPr/>
        </p:nvPicPr>
        <p:blipFill>
          <a:blip r:embed="rId4"/>
          <a:stretch/>
        </p:blipFill>
        <p:spPr>
          <a:xfrm>
            <a:off x="10658520" y="2384280"/>
            <a:ext cx="428400" cy="380520"/>
          </a:xfrm>
          <a:prstGeom prst="rect">
            <a:avLst/>
          </a:prstGeom>
          <a:ln w="0">
            <a:noFill/>
          </a:ln>
        </p:spPr>
      </p:pic>
      <p:pic>
        <p:nvPicPr>
          <p:cNvPr id="96" name="Google Shape;121;p15" descr="image.png"/>
          <p:cNvPicPr/>
          <p:nvPr/>
        </p:nvPicPr>
        <p:blipFill>
          <a:blip r:embed="rId5"/>
          <a:stretch/>
        </p:blipFill>
        <p:spPr>
          <a:xfrm>
            <a:off x="5181480" y="2384280"/>
            <a:ext cx="380520" cy="380520"/>
          </a:xfrm>
          <a:prstGeom prst="rect">
            <a:avLst/>
          </a:prstGeom>
          <a:ln w="0">
            <a:noFill/>
          </a:ln>
        </p:spPr>
      </p:pic>
      <p:sp>
        <p:nvSpPr>
          <p:cNvPr id="97" name="Google Shape;122;p15"/>
          <p:cNvSpPr/>
          <p:nvPr/>
        </p:nvSpPr>
        <p:spPr>
          <a:xfrm>
            <a:off x="237960" y="685800"/>
            <a:ext cx="11000880" cy="43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1" lang="hi-IN" sz="2850" spc="-1" strike="noStrike">
                <a:solidFill>
                  <a:srgbClr val="0f172a"/>
                </a:solidFill>
                <a:latin typeface="Cairo"/>
                <a:cs typeface="Cairo"/>
              </a:rPr>
              <a:t>التصنيف مقابل الانحدار</a:t>
            </a:r>
            <a:r>
              <a:rPr b="1" lang="en-US" sz="2850" spc="-1" strike="noStrike">
                <a:solidFill>
                  <a:srgbClr val="0f172a"/>
                </a:solidFill>
                <a:latin typeface="Cairo"/>
                <a:ea typeface="Cairo"/>
              </a:rPr>
              <a:t> </a:t>
            </a:r>
            <a:r>
              <a:rPr b="0" lang="en-US" sz="2850" spc="-1" strike="noStrike">
                <a:solidFill>
                  <a:srgbClr val="0ea5e9"/>
                </a:solidFill>
                <a:latin typeface="Cairo SemiBold"/>
                <a:ea typeface="Cairo SemiBold"/>
              </a:rPr>
              <a:t>(Classification vs Regression)</a:t>
            </a:r>
            <a:endParaRPr b="0" lang="en-US" sz="2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Google Shape;123;p15"/>
          <p:cNvSpPr/>
          <p:nvPr/>
        </p:nvSpPr>
        <p:spPr>
          <a:xfrm>
            <a:off x="11353680" y="685800"/>
            <a:ext cx="75960" cy="685440"/>
          </a:xfrm>
          <a:prstGeom prst="rect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128;p16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100" name="Google Shape;129;p16" descr="image.png"/>
          <p:cNvPicPr/>
          <p:nvPr/>
        </p:nvPicPr>
        <p:blipFill>
          <a:blip r:embed="rId2"/>
          <a:stretch/>
        </p:blipFill>
        <p:spPr>
          <a:xfrm>
            <a:off x="8032680" y="2154600"/>
            <a:ext cx="3396960" cy="3682080"/>
          </a:xfrm>
          <a:prstGeom prst="rect">
            <a:avLst/>
          </a:prstGeom>
          <a:ln w="0">
            <a:noFill/>
          </a:ln>
        </p:spPr>
      </p:pic>
      <p:pic>
        <p:nvPicPr>
          <p:cNvPr id="101" name="Google Shape;130;p16" descr="image.png"/>
          <p:cNvPicPr/>
          <p:nvPr/>
        </p:nvPicPr>
        <p:blipFill>
          <a:blip r:embed="rId3"/>
          <a:stretch/>
        </p:blipFill>
        <p:spPr>
          <a:xfrm>
            <a:off x="4397400" y="2154600"/>
            <a:ext cx="3396960" cy="3682080"/>
          </a:xfrm>
          <a:prstGeom prst="rect">
            <a:avLst/>
          </a:prstGeom>
          <a:ln w="0">
            <a:noFill/>
          </a:ln>
        </p:spPr>
      </p:pic>
      <p:pic>
        <p:nvPicPr>
          <p:cNvPr id="102" name="Google Shape;131;p16" descr="image.png"/>
          <p:cNvPicPr/>
          <p:nvPr/>
        </p:nvPicPr>
        <p:blipFill>
          <a:blip r:embed="rId4"/>
          <a:stretch/>
        </p:blipFill>
        <p:spPr>
          <a:xfrm>
            <a:off x="761760" y="2154600"/>
            <a:ext cx="3396960" cy="3682080"/>
          </a:xfrm>
          <a:prstGeom prst="rect">
            <a:avLst/>
          </a:prstGeom>
          <a:ln w="0">
            <a:noFill/>
          </a:ln>
        </p:spPr>
      </p:pic>
      <p:sp>
        <p:nvSpPr>
          <p:cNvPr id="103" name="Google Shape;132;p16"/>
          <p:cNvSpPr/>
          <p:nvPr/>
        </p:nvSpPr>
        <p:spPr>
          <a:xfrm>
            <a:off x="0" y="0"/>
            <a:ext cx="12191760" cy="114120"/>
          </a:xfrm>
          <a:prstGeom prst="rect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Google Shape;133;p16"/>
          <p:cNvSpPr/>
          <p:nvPr/>
        </p:nvSpPr>
        <p:spPr>
          <a:xfrm>
            <a:off x="8187480" y="3345120"/>
            <a:ext cx="2946600" cy="29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1950" spc="-1" strike="noStrike">
                <a:solidFill>
                  <a:srgbClr val="0f172a"/>
                </a:solidFill>
                <a:latin typeface="Cairo SemiBold"/>
                <a:ea typeface="Cairo SemiBold"/>
              </a:rPr>
              <a:t>1. </a:t>
            </a:r>
            <a:r>
              <a:rPr b="0" lang="hi-IN" sz="1950" spc="-1" strike="noStrike">
                <a:solidFill>
                  <a:srgbClr val="0f172a"/>
                </a:solidFill>
                <a:latin typeface="Cairo SemiBold"/>
                <a:cs typeface="Cairo SemiBold"/>
              </a:rPr>
              <a:t>الخاضع للإشراف</a:t>
            </a: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Google Shape;134;p16"/>
          <p:cNvSpPr/>
          <p:nvPr/>
        </p:nvSpPr>
        <p:spPr>
          <a:xfrm>
            <a:off x="8327880" y="3954600"/>
            <a:ext cx="2806560" cy="26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60000"/>
              </a:lnSpc>
              <a:tabLst>
                <a:tab algn="l" pos="0"/>
              </a:tabLst>
            </a:pPr>
            <a:r>
              <a:rPr b="0" lang="en-US" sz="1080" spc="-1" strike="noStrike">
                <a:solidFill>
                  <a:srgbClr val="0ea5e9"/>
                </a:solidFill>
                <a:latin typeface="Poppins SemiBold"/>
                <a:ea typeface="Poppins SemiBold"/>
              </a:rPr>
              <a:t>Supervised Learning</a:t>
            </a:r>
            <a:endParaRPr b="0" lang="en-US" sz="1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Google Shape;135;p16"/>
          <p:cNvSpPr/>
          <p:nvPr/>
        </p:nvSpPr>
        <p:spPr>
          <a:xfrm>
            <a:off x="8327880" y="4269600"/>
            <a:ext cx="2806560" cy="10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59000"/>
              </a:lnSpc>
              <a:tabLst>
                <a:tab algn="l" pos="0"/>
              </a:tabLst>
            </a:pPr>
            <a:r>
              <a:rPr b="0" lang="hi-IN" sz="1430" spc="-1" strike="noStrike">
                <a:solidFill>
                  <a:srgbClr val="475569"/>
                </a:solidFill>
                <a:latin typeface="Cairo"/>
                <a:cs typeface="Cairo"/>
              </a:rPr>
              <a:t>التعلم بوجود موجه أو "معلم". يتم تدريب الآلة على إجابات وأمثلة صحيحة ومحددة مسبقاً ليقاس مدى تقدمها بمرور الوقت</a:t>
            </a:r>
            <a:r>
              <a:rPr b="0" lang="en-US" sz="1430" spc="-1" strike="noStrike">
                <a:solidFill>
                  <a:srgbClr val="475569"/>
                </a:solidFill>
                <a:latin typeface="Cairo"/>
                <a:ea typeface="Cairo"/>
              </a:rPr>
              <a:t>.</a:t>
            </a:r>
            <a:endParaRPr b="0" lang="en-US" sz="14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Google Shape;136;p16"/>
          <p:cNvSpPr/>
          <p:nvPr/>
        </p:nvSpPr>
        <p:spPr>
          <a:xfrm>
            <a:off x="4552200" y="3345120"/>
            <a:ext cx="2946600" cy="29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1950" spc="-1" strike="noStrike">
                <a:solidFill>
                  <a:srgbClr val="0f172a"/>
                </a:solidFill>
                <a:latin typeface="Cairo SemiBold"/>
                <a:ea typeface="Cairo SemiBold"/>
              </a:rPr>
              <a:t>2. </a:t>
            </a:r>
            <a:r>
              <a:rPr b="0" lang="hi-IN" sz="1950" spc="-1" strike="noStrike">
                <a:solidFill>
                  <a:srgbClr val="0f172a"/>
                </a:solidFill>
                <a:latin typeface="Cairo SemiBold"/>
                <a:cs typeface="Cairo SemiBold"/>
              </a:rPr>
              <a:t>غير الخاضع للإشراف</a:t>
            </a: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Google Shape;137;p16"/>
          <p:cNvSpPr/>
          <p:nvPr/>
        </p:nvSpPr>
        <p:spPr>
          <a:xfrm>
            <a:off x="4692600" y="3954600"/>
            <a:ext cx="2806560" cy="26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60000"/>
              </a:lnSpc>
              <a:tabLst>
                <a:tab algn="l" pos="0"/>
              </a:tabLst>
            </a:pPr>
            <a:r>
              <a:rPr b="0" lang="en-US" sz="1080" spc="-1" strike="noStrike">
                <a:solidFill>
                  <a:srgbClr val="0ea5e9"/>
                </a:solidFill>
                <a:latin typeface="Poppins SemiBold"/>
                <a:ea typeface="Poppins SemiBold"/>
              </a:rPr>
              <a:t>Unsupervised Learning</a:t>
            </a:r>
            <a:endParaRPr b="0" lang="en-US" sz="1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Google Shape;138;p16"/>
          <p:cNvSpPr/>
          <p:nvPr/>
        </p:nvSpPr>
        <p:spPr>
          <a:xfrm>
            <a:off x="4692600" y="4269600"/>
            <a:ext cx="2806560" cy="10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59000"/>
              </a:lnSpc>
              <a:tabLst>
                <a:tab algn="l" pos="0"/>
              </a:tabLst>
            </a:pPr>
            <a:r>
              <a:rPr b="0" lang="hi-IN" sz="1430" spc="-1" strike="noStrike">
                <a:solidFill>
                  <a:srgbClr val="475569"/>
                </a:solidFill>
                <a:latin typeface="Cairo"/>
                <a:cs typeface="Cairo"/>
              </a:rPr>
              <a:t>التعلم الذاتي المستقل. تبحث الآلة بنفسها عن الأنماط والتجمعات المتشابهة داخل البيانات بدون أي توجيه أو تسمية مسبقة</a:t>
            </a:r>
            <a:r>
              <a:rPr b="0" lang="en-US" sz="1430" spc="-1" strike="noStrike">
                <a:solidFill>
                  <a:srgbClr val="475569"/>
                </a:solidFill>
                <a:latin typeface="Cairo"/>
                <a:ea typeface="Cairo"/>
              </a:rPr>
              <a:t>.</a:t>
            </a:r>
            <a:endParaRPr b="0" lang="en-US" sz="14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Google Shape;139;p16"/>
          <p:cNvSpPr/>
          <p:nvPr/>
        </p:nvSpPr>
        <p:spPr>
          <a:xfrm>
            <a:off x="916920" y="3345120"/>
            <a:ext cx="2946600" cy="29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1950" spc="-1" strike="noStrike">
                <a:solidFill>
                  <a:srgbClr val="0f172a"/>
                </a:solidFill>
                <a:latin typeface="Cairo SemiBold"/>
                <a:ea typeface="Cairo SemiBold"/>
              </a:rPr>
              <a:t>3. </a:t>
            </a:r>
            <a:r>
              <a:rPr b="0" lang="hi-IN" sz="1950" spc="-1" strike="noStrike">
                <a:solidFill>
                  <a:srgbClr val="0f172a"/>
                </a:solidFill>
                <a:latin typeface="Cairo SemiBold"/>
                <a:cs typeface="Cairo SemiBold"/>
              </a:rPr>
              <a:t>التعلم المعزز</a:t>
            </a: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Google Shape;140;p16"/>
          <p:cNvSpPr/>
          <p:nvPr/>
        </p:nvSpPr>
        <p:spPr>
          <a:xfrm>
            <a:off x="1056960" y="3954600"/>
            <a:ext cx="2806560" cy="26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60000"/>
              </a:lnSpc>
              <a:tabLst>
                <a:tab algn="l" pos="0"/>
              </a:tabLst>
            </a:pPr>
            <a:r>
              <a:rPr b="0" lang="en-US" sz="1080" spc="-1" strike="noStrike">
                <a:solidFill>
                  <a:srgbClr val="0ea5e9"/>
                </a:solidFill>
                <a:latin typeface="Poppins SemiBold"/>
                <a:ea typeface="Poppins SemiBold"/>
              </a:rPr>
              <a:t>Reinforcement Learning</a:t>
            </a:r>
            <a:endParaRPr b="0" lang="en-US" sz="10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Google Shape;141;p16"/>
          <p:cNvSpPr/>
          <p:nvPr/>
        </p:nvSpPr>
        <p:spPr>
          <a:xfrm>
            <a:off x="1056960" y="4269600"/>
            <a:ext cx="2806560" cy="10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59000"/>
              </a:lnSpc>
              <a:tabLst>
                <a:tab algn="l" pos="0"/>
              </a:tabLst>
            </a:pPr>
            <a:r>
              <a:rPr b="0" lang="hi-IN" sz="1430" spc="-1" strike="noStrike">
                <a:solidFill>
                  <a:srgbClr val="475569"/>
                </a:solidFill>
                <a:latin typeface="Cairo"/>
                <a:cs typeface="Cairo"/>
              </a:rPr>
              <a:t>التعلم من خلال التجارب والمحاكاة المباشرة بالاعتماد على التغذية الراجعة من مكافآت النجاح وعقوبات ارتكاب الأخطاء</a:t>
            </a:r>
            <a:r>
              <a:rPr b="0" lang="en-US" sz="1430" spc="-1" strike="noStrike">
                <a:solidFill>
                  <a:srgbClr val="475569"/>
                </a:solidFill>
                <a:latin typeface="Cairo"/>
                <a:ea typeface="Cairo"/>
              </a:rPr>
              <a:t>.</a:t>
            </a:r>
            <a:endParaRPr b="0" lang="en-US" sz="143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3" name="Google Shape;142;p16" descr="image.png"/>
          <p:cNvPicPr/>
          <p:nvPr/>
        </p:nvPicPr>
        <p:blipFill>
          <a:blip r:embed="rId5"/>
          <a:stretch/>
        </p:blipFill>
        <p:spPr>
          <a:xfrm>
            <a:off x="10658520" y="2649600"/>
            <a:ext cx="475920" cy="380520"/>
          </a:xfrm>
          <a:prstGeom prst="rect">
            <a:avLst/>
          </a:prstGeom>
          <a:ln w="0">
            <a:noFill/>
          </a:ln>
        </p:spPr>
      </p:pic>
      <p:pic>
        <p:nvPicPr>
          <p:cNvPr id="114" name="Google Shape;143;p16" descr="image.png"/>
          <p:cNvPicPr/>
          <p:nvPr/>
        </p:nvPicPr>
        <p:blipFill>
          <a:blip r:embed="rId6"/>
          <a:stretch/>
        </p:blipFill>
        <p:spPr>
          <a:xfrm>
            <a:off x="7118280" y="2649600"/>
            <a:ext cx="380520" cy="380520"/>
          </a:xfrm>
          <a:prstGeom prst="rect">
            <a:avLst/>
          </a:prstGeom>
          <a:ln w="0">
            <a:noFill/>
          </a:ln>
        </p:spPr>
      </p:pic>
      <p:pic>
        <p:nvPicPr>
          <p:cNvPr id="115" name="Google Shape;144;p16" descr="image.png"/>
          <p:cNvPicPr/>
          <p:nvPr/>
        </p:nvPicPr>
        <p:blipFill>
          <a:blip r:embed="rId7"/>
          <a:stretch/>
        </p:blipFill>
        <p:spPr>
          <a:xfrm>
            <a:off x="3387600" y="2649600"/>
            <a:ext cx="475920" cy="380520"/>
          </a:xfrm>
          <a:prstGeom prst="rect">
            <a:avLst/>
          </a:prstGeom>
          <a:ln w="0">
            <a:noFill/>
          </a:ln>
        </p:spPr>
      </p:pic>
      <p:sp>
        <p:nvSpPr>
          <p:cNvPr id="116" name="Google Shape;145;p16"/>
          <p:cNvSpPr/>
          <p:nvPr/>
        </p:nvSpPr>
        <p:spPr>
          <a:xfrm>
            <a:off x="237960" y="685800"/>
            <a:ext cx="11000880" cy="43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1" lang="hi-IN" sz="2850" spc="-1" strike="noStrike">
                <a:solidFill>
                  <a:srgbClr val="0f172a"/>
                </a:solidFill>
                <a:latin typeface="Cairo"/>
                <a:cs typeface="Cairo"/>
              </a:rPr>
              <a:t>طرق تعلم الآلة الأساسية</a:t>
            </a:r>
            <a:r>
              <a:rPr b="1" lang="en-US" sz="2850" spc="-1" strike="noStrike">
                <a:solidFill>
                  <a:srgbClr val="0f172a"/>
                </a:solidFill>
                <a:latin typeface="Cairo"/>
                <a:ea typeface="Cairo"/>
              </a:rPr>
              <a:t> </a:t>
            </a:r>
            <a:r>
              <a:rPr b="0" lang="en-US" sz="2850" spc="-1" strike="noStrike">
                <a:solidFill>
                  <a:srgbClr val="0ea5e9"/>
                </a:solidFill>
                <a:latin typeface="Cairo SemiBold"/>
                <a:ea typeface="Cairo SemiBold"/>
              </a:rPr>
              <a:t>(Types of Machine Learning)</a:t>
            </a:r>
            <a:endParaRPr b="0" lang="en-US" sz="2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Google Shape;146;p16"/>
          <p:cNvSpPr/>
          <p:nvPr/>
        </p:nvSpPr>
        <p:spPr>
          <a:xfrm>
            <a:off x="11353680" y="685800"/>
            <a:ext cx="75960" cy="685440"/>
          </a:xfrm>
          <a:prstGeom prst="rect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51;p17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sp>
        <p:nvSpPr>
          <p:cNvPr id="119" name="Google Shape;152;p17"/>
          <p:cNvSpPr/>
          <p:nvPr/>
        </p:nvSpPr>
        <p:spPr>
          <a:xfrm>
            <a:off x="0" y="0"/>
            <a:ext cx="12191760" cy="114120"/>
          </a:xfrm>
          <a:prstGeom prst="rect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graphicFrame>
        <p:nvGraphicFramePr>
          <p:cNvPr id="120" name="Google Shape;153;p17"/>
          <p:cNvGraphicFramePr/>
          <p:nvPr/>
        </p:nvGraphicFramePr>
        <p:xfrm>
          <a:off x="762120" y="2324160"/>
          <a:ext cx="10667520" cy="3342600"/>
        </p:xfrm>
        <a:graphic>
          <a:graphicData uri="http://schemas.openxmlformats.org/drawingml/2006/table">
            <a:tbl>
              <a:tblPr/>
              <a:tblGrid>
                <a:gridCol w="2666880"/>
                <a:gridCol w="4000320"/>
                <a:gridCol w="4000320"/>
              </a:tblGrid>
              <a:tr h="835560">
                <a:tc>
                  <a:txBody>
                    <a:bodyPr lIns="63360" rIns="63360" tIns="25200" bIns="25200"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hi-IN" sz="1500" spc="-1" strike="noStrike">
                          <a:solidFill>
                            <a:srgbClr val="0f172a"/>
                          </a:solidFill>
                          <a:latin typeface="Cairo"/>
                          <a:cs typeface="Cairo"/>
                        </a:rPr>
                        <a:t>وجه المقارنة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hi-IN" sz="1500" spc="-1" strike="noStrike">
                          <a:solidFill>
                            <a:srgbClr val="0f172a"/>
                          </a:solidFill>
                          <a:latin typeface="Cairo"/>
                          <a:cs typeface="Cairo"/>
                        </a:rPr>
                        <a:t>التعلم الخاضع للإشراف</a:t>
                      </a:r>
                      <a:r>
                        <a:rPr b="1" lang="en-US" sz="1500" spc="-1" strike="noStrike">
                          <a:solidFill>
                            <a:srgbClr val="0f172a"/>
                          </a:solidFill>
                          <a:latin typeface="Cairo"/>
                          <a:ea typeface="Cairo"/>
                        </a:rPr>
                        <a:t> </a:t>
                      </a:r>
                      <a:r>
                        <a:rPr b="1" lang="en-US" sz="1500" spc="-1" strike="noStrike">
                          <a:solidFill>
                            <a:srgbClr val="0f172a"/>
                          </a:solidFill>
                          <a:latin typeface="Cairo"/>
                          <a:ea typeface="Cairo"/>
                        </a:rPr>
                        <a:t>(Supervised)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hi-IN" sz="1500" spc="-1" strike="noStrike">
                          <a:solidFill>
                            <a:srgbClr val="0f172a"/>
                          </a:solidFill>
                          <a:latin typeface="Cairo"/>
                          <a:cs typeface="Cairo"/>
                        </a:rPr>
                        <a:t>التعلم غير الخاضع للإشراف</a:t>
                      </a:r>
                      <a:r>
                        <a:rPr b="1" lang="en-US" sz="1500" spc="-1" strike="noStrike">
                          <a:solidFill>
                            <a:srgbClr val="0f172a"/>
                          </a:solidFill>
                          <a:latin typeface="Cairo"/>
                          <a:ea typeface="Cairo"/>
                        </a:rPr>
                        <a:t> </a:t>
                      </a:r>
                      <a:r>
                        <a:rPr b="1" lang="en-US" sz="1500" spc="-1" strike="noStrike">
                          <a:solidFill>
                            <a:srgbClr val="0f172a"/>
                          </a:solidFill>
                          <a:latin typeface="Cairo"/>
                          <a:ea typeface="Cairo"/>
                        </a:rPr>
                        <a:t>(Unsupervised)</a:t>
                      </a:r>
                      <a:endParaRPr b="0" lang="en-US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835560">
                <a:tc>
                  <a:txBody>
                    <a:bodyPr lIns="63360" rIns="63360" tIns="25200" bIns="25200"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hi-IN" sz="1430" spc="-1" strike="noStrike">
                          <a:solidFill>
                            <a:srgbClr val="475569"/>
                          </a:solidFill>
                          <a:latin typeface="Cairo"/>
                          <a:cs typeface="Cairo"/>
                        </a:rPr>
                        <a:t>طبيعة البيانات</a:t>
                      </a:r>
                      <a:endParaRPr b="0" lang="en-US" sz="14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hi-IN" sz="1430" spc="-1" strike="noStrike">
                          <a:solidFill>
                            <a:srgbClr val="475569"/>
                          </a:solidFill>
                          <a:latin typeface="Cairo"/>
                          <a:cs typeface="Cairo"/>
                        </a:rPr>
                        <a:t>بيانات معرفة ومصنفة مسبقاً بدقة</a:t>
                      </a:r>
                      <a:r>
                        <a:rPr b="0" lang="en-US" sz="1430" spc="-1" strike="noStrike">
                          <a:solidFill>
                            <a:srgbClr val="475569"/>
                          </a:solidFill>
                          <a:latin typeface="Cairo"/>
                          <a:ea typeface="Cairo"/>
                        </a:rPr>
                        <a:t> </a:t>
                      </a:r>
                      <a:r>
                        <a:rPr b="0" lang="en-US" sz="1430" spc="-1" strike="noStrike">
                          <a:solidFill>
                            <a:srgbClr val="475569"/>
                          </a:solidFill>
                          <a:latin typeface="Cairo"/>
                          <a:ea typeface="Cairo"/>
                        </a:rPr>
                        <a:t>(Labeled Data)</a:t>
                      </a:r>
                      <a:endParaRPr b="0" lang="en-US" sz="14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hi-IN" sz="1430" spc="-1" strike="noStrike">
                          <a:solidFill>
                            <a:srgbClr val="475569"/>
                          </a:solidFill>
                          <a:latin typeface="Cairo"/>
                          <a:cs typeface="Cairo"/>
                        </a:rPr>
                        <a:t>بيانات غير مصنفة أو خام بالكامل</a:t>
                      </a:r>
                      <a:r>
                        <a:rPr b="0" lang="en-US" sz="1430" spc="-1" strike="noStrike">
                          <a:solidFill>
                            <a:srgbClr val="475569"/>
                          </a:solidFill>
                          <a:latin typeface="Cairo"/>
                          <a:ea typeface="Cairo"/>
                        </a:rPr>
                        <a:t> </a:t>
                      </a:r>
                      <a:r>
                        <a:rPr b="0" lang="en-US" sz="1430" spc="-1" strike="noStrike">
                          <a:solidFill>
                            <a:srgbClr val="475569"/>
                          </a:solidFill>
                          <a:latin typeface="Cairo"/>
                          <a:ea typeface="Cairo"/>
                        </a:rPr>
                        <a:t>(Unlabeled Data)</a:t>
                      </a:r>
                      <a:endParaRPr b="0" lang="en-US" sz="14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</a:tr>
              <a:tr h="835560">
                <a:tc>
                  <a:txBody>
                    <a:bodyPr lIns="63360" rIns="63360" tIns="25200" bIns="25200"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hi-IN" sz="1430" spc="-1" strike="noStrike">
                          <a:solidFill>
                            <a:srgbClr val="475569"/>
                          </a:solidFill>
                          <a:latin typeface="Cairo"/>
                          <a:cs typeface="Cairo"/>
                        </a:rPr>
                        <a:t>الهدف الأساسي</a:t>
                      </a:r>
                      <a:endParaRPr b="0" lang="en-US" sz="14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hi-IN" sz="1430" spc="-1" strike="noStrike">
                          <a:solidFill>
                            <a:srgbClr val="475569"/>
                          </a:solidFill>
                          <a:latin typeface="Cairo"/>
                          <a:cs typeface="Cairo"/>
                        </a:rPr>
                        <a:t>التنبؤ بنتائج وقيم واضحة بناءً على الأنماط السابقة</a:t>
                      </a:r>
                      <a:endParaRPr b="0" lang="en-US" sz="14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hi-IN" sz="1430" spc="-1" strike="noStrike">
                          <a:solidFill>
                            <a:srgbClr val="475569"/>
                          </a:solidFill>
                          <a:latin typeface="Cairo"/>
                          <a:cs typeface="Cairo"/>
                        </a:rPr>
                        <a:t>اكتشاف الهياكل الأساسية وتجميع النقاط المتشابهة تلقائياً</a:t>
                      </a:r>
                      <a:endParaRPr b="0" lang="en-US" sz="14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</a:tr>
              <a:tr h="835560">
                <a:tc>
                  <a:txBody>
                    <a:bodyPr lIns="63360" rIns="63360" tIns="25200" bIns="25200"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hi-IN" sz="1430" spc="-1" strike="noStrike">
                          <a:solidFill>
                            <a:srgbClr val="475569"/>
                          </a:solidFill>
                          <a:latin typeface="Cairo"/>
                          <a:cs typeface="Cairo"/>
                        </a:rPr>
                        <a:t>أبرز التطبيقات</a:t>
                      </a:r>
                      <a:endParaRPr b="0" lang="en-US" sz="14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hi-IN" sz="1430" spc="-1" strike="noStrike">
                          <a:solidFill>
                            <a:srgbClr val="475569"/>
                          </a:solidFill>
                          <a:latin typeface="Cairo"/>
                          <a:cs typeface="Cairo"/>
                        </a:rPr>
                        <a:t>أنظمة التعرف على الوجوه، تقييم القروض البنكية</a:t>
                      </a:r>
                      <a:endParaRPr b="0" lang="en-US" sz="14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63360" rIns="63360" tIns="25200" bIns="25200" anchor="ctr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hi-IN" sz="1430" spc="-1" strike="noStrike">
                          <a:solidFill>
                            <a:srgbClr val="475569"/>
                          </a:solidFill>
                          <a:latin typeface="Cairo"/>
                          <a:cs typeface="Cairo"/>
                        </a:rPr>
                        <a:t>تقسيم شرائح العملاء لغايات التسويق المستهدف</a:t>
                      </a:r>
                      <a:endParaRPr b="0" lang="en-US" sz="143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</a:tr>
            </a:tbl>
          </a:graphicData>
        </a:graphic>
      </p:graphicFrame>
      <p:sp>
        <p:nvSpPr>
          <p:cNvPr id="121" name="Google Shape;154;p17"/>
          <p:cNvSpPr/>
          <p:nvPr/>
        </p:nvSpPr>
        <p:spPr>
          <a:xfrm>
            <a:off x="8763120" y="3262320"/>
            <a:ext cx="266652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Google Shape;155;p17"/>
          <p:cNvSpPr/>
          <p:nvPr/>
        </p:nvSpPr>
        <p:spPr>
          <a:xfrm>
            <a:off x="8763120" y="2338560"/>
            <a:ext cx="2666520" cy="28080"/>
          </a:xfrm>
          <a:prstGeom prst="rect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4040" bIns="140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" name="Google Shape;156;p17"/>
          <p:cNvSpPr/>
          <p:nvPr/>
        </p:nvSpPr>
        <p:spPr>
          <a:xfrm>
            <a:off x="4762440" y="3262320"/>
            <a:ext cx="400032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Google Shape;157;p17"/>
          <p:cNvSpPr/>
          <p:nvPr/>
        </p:nvSpPr>
        <p:spPr>
          <a:xfrm>
            <a:off x="4762440" y="2338560"/>
            <a:ext cx="4000320" cy="28080"/>
          </a:xfrm>
          <a:prstGeom prst="rect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4040" bIns="140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Google Shape;158;p17"/>
          <p:cNvSpPr/>
          <p:nvPr/>
        </p:nvSpPr>
        <p:spPr>
          <a:xfrm>
            <a:off x="762120" y="3262320"/>
            <a:ext cx="400032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Google Shape;159;p17"/>
          <p:cNvSpPr/>
          <p:nvPr/>
        </p:nvSpPr>
        <p:spPr>
          <a:xfrm>
            <a:off x="762120" y="2338560"/>
            <a:ext cx="4000320" cy="28080"/>
          </a:xfrm>
          <a:prstGeom prst="rect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4040" bIns="140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Google Shape;160;p17"/>
          <p:cNvSpPr/>
          <p:nvPr/>
        </p:nvSpPr>
        <p:spPr>
          <a:xfrm>
            <a:off x="8763120" y="4155840"/>
            <a:ext cx="266652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Google Shape;161;p17"/>
          <p:cNvSpPr/>
          <p:nvPr/>
        </p:nvSpPr>
        <p:spPr>
          <a:xfrm>
            <a:off x="4762440" y="4155840"/>
            <a:ext cx="400032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Google Shape;162;p17"/>
          <p:cNvSpPr/>
          <p:nvPr/>
        </p:nvSpPr>
        <p:spPr>
          <a:xfrm>
            <a:off x="762120" y="4155840"/>
            <a:ext cx="400032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Google Shape;163;p17"/>
          <p:cNvSpPr/>
          <p:nvPr/>
        </p:nvSpPr>
        <p:spPr>
          <a:xfrm>
            <a:off x="8763120" y="5049000"/>
            <a:ext cx="266652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Google Shape;164;p17"/>
          <p:cNvSpPr/>
          <p:nvPr/>
        </p:nvSpPr>
        <p:spPr>
          <a:xfrm>
            <a:off x="4762440" y="5049000"/>
            <a:ext cx="400032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Google Shape;165;p17"/>
          <p:cNvSpPr/>
          <p:nvPr/>
        </p:nvSpPr>
        <p:spPr>
          <a:xfrm>
            <a:off x="762120" y="5049000"/>
            <a:ext cx="400032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Google Shape;166;p17"/>
          <p:cNvSpPr/>
          <p:nvPr/>
        </p:nvSpPr>
        <p:spPr>
          <a:xfrm>
            <a:off x="8763120" y="5652720"/>
            <a:ext cx="266652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Google Shape;167;p17"/>
          <p:cNvSpPr/>
          <p:nvPr/>
        </p:nvSpPr>
        <p:spPr>
          <a:xfrm>
            <a:off x="4762440" y="5652720"/>
            <a:ext cx="400032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Google Shape;168;p17"/>
          <p:cNvSpPr/>
          <p:nvPr/>
        </p:nvSpPr>
        <p:spPr>
          <a:xfrm>
            <a:off x="762120" y="5652720"/>
            <a:ext cx="4000320" cy="900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Google Shape;169;p17"/>
          <p:cNvSpPr/>
          <p:nvPr/>
        </p:nvSpPr>
        <p:spPr>
          <a:xfrm>
            <a:off x="237960" y="685800"/>
            <a:ext cx="11000880" cy="43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1" lang="hi-IN" sz="2850" spc="-1" strike="noStrike">
                <a:solidFill>
                  <a:srgbClr val="0f172a"/>
                </a:solidFill>
                <a:latin typeface="Cairo"/>
                <a:cs typeface="Cairo"/>
              </a:rPr>
              <a:t>مقارنة منهجية لأساليب التعلم</a:t>
            </a:r>
            <a:r>
              <a:rPr b="1" lang="en-US" sz="2850" spc="-1" strike="noStrike">
                <a:solidFill>
                  <a:srgbClr val="0f172a"/>
                </a:solidFill>
                <a:latin typeface="Cairo"/>
                <a:ea typeface="Cairo"/>
              </a:rPr>
              <a:t> </a:t>
            </a:r>
            <a:r>
              <a:rPr b="0" lang="en-US" sz="2850" spc="-1" strike="noStrike">
                <a:solidFill>
                  <a:srgbClr val="0ea5e9"/>
                </a:solidFill>
                <a:latin typeface="Cairo SemiBold"/>
                <a:ea typeface="Cairo SemiBold"/>
              </a:rPr>
              <a:t>(Supervised vs Unsupervised)</a:t>
            </a:r>
            <a:endParaRPr b="0" lang="en-US" sz="2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Google Shape;170;p17"/>
          <p:cNvSpPr/>
          <p:nvPr/>
        </p:nvSpPr>
        <p:spPr>
          <a:xfrm>
            <a:off x="11353680" y="685800"/>
            <a:ext cx="75960" cy="685440"/>
          </a:xfrm>
          <a:prstGeom prst="rect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75;p18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139" name="Google Shape;176;p18" descr="image.png"/>
          <p:cNvPicPr/>
          <p:nvPr/>
        </p:nvPicPr>
        <p:blipFill>
          <a:blip r:embed="rId2"/>
          <a:stretch/>
        </p:blipFill>
        <p:spPr>
          <a:xfrm>
            <a:off x="7238880" y="2376360"/>
            <a:ext cx="3238200" cy="3238200"/>
          </a:xfrm>
          <a:prstGeom prst="rect">
            <a:avLst/>
          </a:prstGeom>
          <a:ln w="0">
            <a:noFill/>
          </a:ln>
        </p:spPr>
      </p:pic>
      <p:sp>
        <p:nvSpPr>
          <p:cNvPr id="140" name="Google Shape;177;p18"/>
          <p:cNvSpPr/>
          <p:nvPr/>
        </p:nvSpPr>
        <p:spPr>
          <a:xfrm>
            <a:off x="0" y="0"/>
            <a:ext cx="12191760" cy="114120"/>
          </a:xfrm>
          <a:prstGeom prst="rect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" name="Google Shape;178;p18"/>
          <p:cNvSpPr/>
          <p:nvPr/>
        </p:nvSpPr>
        <p:spPr>
          <a:xfrm>
            <a:off x="762120" y="2651040"/>
            <a:ext cx="5400360" cy="29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hi-IN" sz="1950" spc="-1" strike="noStrike">
                <a:solidFill>
                  <a:srgbClr val="0f172a"/>
                </a:solidFill>
                <a:latin typeface="Cairo SemiBold"/>
                <a:cs typeface="Cairo SemiBold"/>
              </a:rPr>
              <a:t>كيف يتعلم الوكيل الذكي تلقائياً؟</a:t>
            </a: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Google Shape;179;p18"/>
          <p:cNvSpPr/>
          <p:nvPr/>
        </p:nvSpPr>
        <p:spPr>
          <a:xfrm>
            <a:off x="762120" y="3260520"/>
            <a:ext cx="5143320" cy="69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59000"/>
              </a:lnSpc>
              <a:tabLst>
                <a:tab algn="l" pos="0"/>
              </a:tabLst>
            </a:pPr>
            <a:r>
              <a:rPr b="1" lang="hi-IN" sz="1430" spc="-1" strike="noStrike">
                <a:solidFill>
                  <a:srgbClr val="475569"/>
                </a:solidFill>
                <a:latin typeface="Cairo"/>
                <a:cs typeface="Cairo"/>
              </a:rPr>
              <a:t>مبدأ الوكيل والبيئة:</a:t>
            </a:r>
            <a:r>
              <a:rPr b="0" lang="en-US" sz="1430" spc="-1" strike="noStrike">
                <a:solidFill>
                  <a:srgbClr val="475569"/>
                </a:solidFill>
                <a:latin typeface="Cairo"/>
                <a:ea typeface="Cairo"/>
              </a:rPr>
              <a:t> يتم إطلاق برمجية ذكية تدعى الوكيل الذكي</a:t>
            </a:r>
            <a:r>
              <a:rPr b="0" lang="en-US" sz="1430" spc="-1" strike="noStrike">
                <a:solidFill>
                  <a:srgbClr val="475569"/>
                </a:solidFill>
                <a:latin typeface="Cairo"/>
                <a:ea typeface="Cairo"/>
              </a:rPr>
              <a:t> </a:t>
            </a:r>
            <a:r>
              <a:rPr b="0" lang="en-US" sz="1430" spc="-1" strike="noStrike">
                <a:solidFill>
                  <a:srgbClr val="0ea5e9"/>
                </a:solidFill>
                <a:latin typeface="Cairo SemiBold"/>
                <a:ea typeface="Cairo SemiBold"/>
              </a:rPr>
              <a:t>(Agent)</a:t>
            </a:r>
            <a:r>
              <a:rPr b="0" lang="en-US" sz="1430" spc="-1" strike="noStrike">
                <a:solidFill>
                  <a:srgbClr val="475569"/>
                </a:solidFill>
                <a:latin typeface="Cairo"/>
                <a:ea typeface="Cairo"/>
              </a:rPr>
              <a:t> </a:t>
            </a:r>
            <a:r>
              <a:rPr b="0" lang="hi-IN" sz="1430" spc="-1" strike="noStrike">
                <a:solidFill>
                  <a:srgbClr val="475569"/>
                </a:solidFill>
                <a:latin typeface="Cairo"/>
                <a:cs typeface="Cairo"/>
              </a:rPr>
              <a:t>داخل بيئة تفاعلية ليتعلم السلوك الأمثل بمفرده</a:t>
            </a:r>
            <a:r>
              <a:rPr b="0" lang="en-US" sz="1430" spc="-1" strike="noStrike">
                <a:solidFill>
                  <a:srgbClr val="475569"/>
                </a:solidFill>
                <a:latin typeface="Cairo"/>
                <a:ea typeface="Cairo"/>
              </a:rPr>
              <a:t>.</a:t>
            </a:r>
            <a:endParaRPr b="0" lang="en-US" sz="14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Google Shape;180;p18"/>
          <p:cNvSpPr/>
          <p:nvPr/>
        </p:nvSpPr>
        <p:spPr>
          <a:xfrm>
            <a:off x="762120" y="3953880"/>
            <a:ext cx="5143320" cy="69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59000"/>
              </a:lnSpc>
              <a:tabLst>
                <a:tab algn="l" pos="0"/>
              </a:tabLst>
            </a:pPr>
            <a:r>
              <a:rPr b="1" lang="hi-IN" sz="1430" spc="-1" strike="noStrike">
                <a:solidFill>
                  <a:srgbClr val="475569"/>
                </a:solidFill>
                <a:latin typeface="Cairo"/>
                <a:cs typeface="Cairo"/>
              </a:rPr>
              <a:t>المكافأة والعقاب:</a:t>
            </a:r>
            <a:r>
              <a:rPr b="0" lang="en-US" sz="1430" spc="-1" strike="noStrike">
                <a:solidFill>
                  <a:srgbClr val="475569"/>
                </a:solidFill>
                <a:latin typeface="Cairo"/>
                <a:ea typeface="Cairo"/>
              </a:rPr>
              <a:t> عند قيامه بسلوك صحيح يتم مكافأته</a:t>
            </a:r>
            <a:r>
              <a:rPr b="0" lang="en-US" sz="1430" spc="-1" strike="noStrike">
                <a:solidFill>
                  <a:srgbClr val="475569"/>
                </a:solidFill>
                <a:latin typeface="Cairo"/>
                <a:ea typeface="Cairo"/>
              </a:rPr>
              <a:t> </a:t>
            </a:r>
            <a:r>
              <a:rPr b="0" lang="en-US" sz="1430" spc="-1" strike="noStrike">
                <a:solidFill>
                  <a:srgbClr val="0ea5e9"/>
                </a:solidFill>
                <a:latin typeface="Cairo SemiBold"/>
                <a:ea typeface="Cairo SemiBold"/>
              </a:rPr>
              <a:t>(Reward)</a:t>
            </a:r>
            <a:r>
              <a:rPr b="0" lang="hi-IN" sz="1430" spc="-1" strike="noStrike">
                <a:solidFill>
                  <a:srgbClr val="475569"/>
                </a:solidFill>
                <a:latin typeface="Cairo"/>
                <a:cs typeface="Cairo"/>
              </a:rPr>
              <a:t>، </a:t>
            </a:r>
            <a:r>
              <a:rPr b="0" lang="hi-IN" sz="1430" spc="-1" strike="noStrike">
                <a:solidFill>
                  <a:srgbClr val="475569"/>
                </a:solidFill>
                <a:latin typeface="Cairo"/>
                <a:cs typeface="Cairo"/>
              </a:rPr>
              <a:t>وعند الوقوع في الخطأ يتلقى عقوبة افتراضية</a:t>
            </a:r>
            <a:r>
              <a:rPr b="0" lang="en-US" sz="1430" spc="-1" strike="noStrike">
                <a:solidFill>
                  <a:srgbClr val="475569"/>
                </a:solidFill>
                <a:latin typeface="Cairo"/>
                <a:ea typeface="Cairo"/>
              </a:rPr>
              <a:t> </a:t>
            </a:r>
            <a:r>
              <a:rPr b="0" lang="en-US" sz="1430" spc="-1" strike="noStrike">
                <a:solidFill>
                  <a:srgbClr val="0ea5e9"/>
                </a:solidFill>
                <a:latin typeface="Cairo SemiBold"/>
                <a:ea typeface="Cairo SemiBold"/>
              </a:rPr>
              <a:t>(Penalty)</a:t>
            </a:r>
            <a:r>
              <a:rPr b="0" lang="en-US" sz="1430" spc="-1" strike="noStrike">
                <a:solidFill>
                  <a:srgbClr val="475569"/>
                </a:solidFill>
                <a:latin typeface="Cairo"/>
                <a:ea typeface="Cairo"/>
              </a:rPr>
              <a:t>.</a:t>
            </a:r>
            <a:endParaRPr b="0" lang="en-US" sz="14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Google Shape;181;p18"/>
          <p:cNvSpPr/>
          <p:nvPr/>
        </p:nvSpPr>
        <p:spPr>
          <a:xfrm>
            <a:off x="762120" y="4647240"/>
            <a:ext cx="5143320" cy="20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59000"/>
              </a:lnSpc>
              <a:tabLst>
                <a:tab algn="l" pos="0"/>
              </a:tabLst>
            </a:pPr>
            <a:r>
              <a:rPr b="1" lang="hi-IN" sz="1430" spc="-1" strike="noStrike">
                <a:solidFill>
                  <a:srgbClr val="475569"/>
                </a:solidFill>
                <a:latin typeface="Cairo"/>
                <a:cs typeface="Cairo"/>
              </a:rPr>
              <a:t>تطبيقات رائدة:</a:t>
            </a:r>
            <a:r>
              <a:rPr b="0" lang="en-US" sz="1430" spc="-1" strike="noStrike">
                <a:solidFill>
                  <a:srgbClr val="475569"/>
                </a:solidFill>
                <a:latin typeface="Cairo"/>
                <a:ea typeface="Cairo"/>
              </a:rPr>
              <a:t> تدريب السيارات ذاتية القيادة لتجنب الاصطدامات، وتطوير الروبوتات المتقدمة لتجاوز المتاهات وتحديات الألعاب الحربية المعقدة</a:t>
            </a:r>
            <a:r>
              <a:rPr b="0" lang="en-US" sz="1430" spc="-1" strike="noStrike">
                <a:solidFill>
                  <a:srgbClr val="475569"/>
                </a:solidFill>
                <a:latin typeface="Cairo"/>
                <a:ea typeface="Cairo"/>
              </a:rPr>
              <a:t>.</a:t>
            </a:r>
            <a:endParaRPr b="0" lang="en-US" sz="143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9000"/>
              </a:lnSpc>
              <a:tabLst>
                <a:tab algn="l" pos="0"/>
              </a:tabLst>
            </a:pPr>
            <a:r>
              <a:rPr b="0" lang="en-US" sz="1430" spc="-1" strike="noStrike">
                <a:solidFill>
                  <a:srgbClr val="475569"/>
                </a:solidFill>
                <a:latin typeface="Cairo"/>
                <a:ea typeface="Cairo"/>
              </a:rPr>
              <a:t>example video</a:t>
            </a:r>
            <a:endParaRPr b="0" lang="en-US" sz="143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9000"/>
              </a:lnSpc>
              <a:tabLst>
                <a:tab algn="l" pos="0"/>
              </a:tabLst>
            </a:pPr>
            <a:r>
              <a:rPr b="0" lang="en-US" sz="1430" spc="-1" strike="noStrike">
                <a:solidFill>
                  <a:srgbClr val="475569"/>
                </a:solidFill>
                <a:latin typeface="Cairo"/>
                <a:ea typeface="Cairo"/>
              </a:rPr>
              <a:t>https://youtube.com/shorts/n8CczAciHk4?si=CaAqUiIgkqymYGjt</a:t>
            </a:r>
            <a:endParaRPr b="0" lang="en-US" sz="143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9000"/>
              </a:lnSpc>
              <a:tabLst>
                <a:tab algn="l" pos="0"/>
              </a:tabLst>
            </a:pPr>
            <a:endParaRPr b="0" lang="en-US" sz="143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5" name="Google Shape;182;p18" descr="image.png"/>
          <p:cNvPicPr/>
          <p:nvPr/>
        </p:nvPicPr>
        <p:blipFill>
          <a:blip r:embed="rId3"/>
          <a:stretch/>
        </p:blipFill>
        <p:spPr>
          <a:xfrm>
            <a:off x="7248600" y="2386080"/>
            <a:ext cx="3219120" cy="3219120"/>
          </a:xfrm>
          <a:prstGeom prst="rect">
            <a:avLst/>
          </a:prstGeom>
          <a:ln w="0">
            <a:noFill/>
          </a:ln>
        </p:spPr>
      </p:pic>
      <p:sp>
        <p:nvSpPr>
          <p:cNvPr id="146" name="Google Shape;183;p18"/>
          <p:cNvSpPr/>
          <p:nvPr/>
        </p:nvSpPr>
        <p:spPr>
          <a:xfrm>
            <a:off x="237960" y="685800"/>
            <a:ext cx="11000880" cy="43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1" lang="hi-IN" sz="2850" spc="-1" strike="noStrike">
                <a:solidFill>
                  <a:srgbClr val="0f172a"/>
                </a:solidFill>
                <a:latin typeface="Cairo"/>
                <a:cs typeface="Cairo"/>
              </a:rPr>
              <a:t>التعلم المعزز بالتجربة والخطأ</a:t>
            </a:r>
            <a:r>
              <a:rPr b="1" lang="en-US" sz="2850" spc="-1" strike="noStrike">
                <a:solidFill>
                  <a:srgbClr val="0f172a"/>
                </a:solidFill>
                <a:latin typeface="Cairo"/>
                <a:ea typeface="Cairo"/>
              </a:rPr>
              <a:t> </a:t>
            </a:r>
            <a:r>
              <a:rPr b="0" lang="en-US" sz="2850" spc="-1" strike="noStrike">
                <a:solidFill>
                  <a:srgbClr val="0ea5e9"/>
                </a:solidFill>
                <a:latin typeface="Cairo SemiBold"/>
                <a:ea typeface="Cairo SemiBold"/>
              </a:rPr>
              <a:t>(Reinforcement Learning)</a:t>
            </a:r>
            <a:endParaRPr b="0" lang="en-US" sz="2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Google Shape;184;p18"/>
          <p:cNvSpPr/>
          <p:nvPr/>
        </p:nvSpPr>
        <p:spPr>
          <a:xfrm>
            <a:off x="11353680" y="685800"/>
            <a:ext cx="75960" cy="685440"/>
          </a:xfrm>
          <a:prstGeom prst="rect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89;p19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pic>
        <p:nvPicPr>
          <p:cNvPr id="149" name="Google Shape;190;p19" descr="image.png"/>
          <p:cNvPicPr/>
          <p:nvPr/>
        </p:nvPicPr>
        <p:blipFill>
          <a:blip r:embed="rId2"/>
          <a:stretch/>
        </p:blipFill>
        <p:spPr>
          <a:xfrm>
            <a:off x="762120" y="2185920"/>
            <a:ext cx="5143320" cy="3619080"/>
          </a:xfrm>
          <a:prstGeom prst="rect">
            <a:avLst/>
          </a:prstGeom>
          <a:ln w="0">
            <a:noFill/>
          </a:ln>
        </p:spPr>
      </p:pic>
      <p:sp>
        <p:nvSpPr>
          <p:cNvPr id="150" name="Google Shape;191;p19"/>
          <p:cNvSpPr/>
          <p:nvPr/>
        </p:nvSpPr>
        <p:spPr>
          <a:xfrm>
            <a:off x="0" y="0"/>
            <a:ext cx="12191760" cy="114120"/>
          </a:xfrm>
          <a:prstGeom prst="rect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Google Shape;192;p19"/>
          <p:cNvSpPr/>
          <p:nvPr/>
        </p:nvSpPr>
        <p:spPr>
          <a:xfrm>
            <a:off x="6286680" y="2361600"/>
            <a:ext cx="5400360" cy="29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hi-IN" sz="1950" spc="-1" strike="noStrike">
                <a:solidFill>
                  <a:srgbClr val="0f172a"/>
                </a:solidFill>
                <a:latin typeface="Cairo SemiBold"/>
                <a:cs typeface="Cairo SemiBold"/>
              </a:rPr>
              <a:t>أشهر عقبات النمذجة الرياضية لتعلم الآلة</a:t>
            </a: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Google Shape;193;p19"/>
          <p:cNvSpPr/>
          <p:nvPr/>
        </p:nvSpPr>
        <p:spPr>
          <a:xfrm>
            <a:off x="6286680" y="2971080"/>
            <a:ext cx="5143320" cy="103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59000"/>
              </a:lnSpc>
              <a:tabLst>
                <a:tab algn="l" pos="0"/>
              </a:tabLst>
            </a:pPr>
            <a:r>
              <a:rPr b="1" lang="hi-IN" sz="1430" spc="-1" strike="noStrike">
                <a:solidFill>
                  <a:srgbClr val="475569"/>
                </a:solidFill>
                <a:latin typeface="Cairo"/>
                <a:cs typeface="Cairo"/>
              </a:rPr>
              <a:t>التكيف الزائد</a:t>
            </a:r>
            <a:r>
              <a:rPr b="1" lang="en-US" sz="1430" spc="-1" strike="noStrike">
                <a:solidFill>
                  <a:srgbClr val="475569"/>
                </a:solidFill>
                <a:latin typeface="Cairo"/>
                <a:ea typeface="Cairo"/>
              </a:rPr>
              <a:t> </a:t>
            </a:r>
            <a:r>
              <a:rPr b="0" lang="en-US" sz="1430" spc="-1" strike="noStrike">
                <a:solidFill>
                  <a:srgbClr val="0ea5e9"/>
                </a:solidFill>
                <a:latin typeface="Cairo SemiBold"/>
                <a:ea typeface="Cairo SemiBold"/>
              </a:rPr>
              <a:t>(Overfitting)</a:t>
            </a:r>
            <a:r>
              <a:rPr b="1" lang="en-US" sz="1430" spc="-1" strike="noStrike">
                <a:solidFill>
                  <a:srgbClr val="475569"/>
                </a:solidFill>
                <a:latin typeface="Cairo"/>
                <a:ea typeface="Cairo"/>
              </a:rPr>
              <a:t>:</a:t>
            </a:r>
            <a:r>
              <a:rPr b="0" lang="en-US" sz="1430" spc="-1" strike="noStrike">
                <a:solidFill>
                  <a:srgbClr val="475569"/>
                </a:solidFill>
                <a:latin typeface="Cairo"/>
                <a:ea typeface="Cairo"/>
              </a:rPr>
              <a:t> </a:t>
            </a:r>
            <a:r>
              <a:rPr b="0" lang="hi-IN" sz="1430" spc="-1" strike="noStrike">
                <a:solidFill>
                  <a:srgbClr val="475569"/>
                </a:solidFill>
                <a:latin typeface="Cairo"/>
                <a:cs typeface="Cairo"/>
              </a:rPr>
              <a:t>مثل الطالب الذي يحفظ أسئلة التدريب حرفياً دون فهم المبدأ؛ فينجح في الامتحانات التدريبية بنسبة </a:t>
            </a:r>
            <a:r>
              <a:rPr b="0" lang="en-US" sz="1430" spc="-1" strike="noStrike">
                <a:solidFill>
                  <a:srgbClr val="475569"/>
                </a:solidFill>
                <a:latin typeface="Cairo"/>
                <a:ea typeface="Cairo"/>
              </a:rPr>
              <a:t>100</a:t>
            </a:r>
            <a:r>
              <a:rPr b="0" lang="en-US" sz="1430" spc="-1" strike="noStrike">
                <a:solidFill>
                  <a:srgbClr val="475569"/>
                </a:solidFill>
                <a:latin typeface="Cairo"/>
                <a:ea typeface="Cairo"/>
              </a:rPr>
              <a:t>%، لكنه يفشل فور تلاوة أسئلة اختبار حقيقية ومعدلة بشكل طفيف</a:t>
            </a:r>
            <a:r>
              <a:rPr b="0" lang="en-US" sz="1430" spc="-1" strike="noStrike">
                <a:solidFill>
                  <a:srgbClr val="475569"/>
                </a:solidFill>
                <a:latin typeface="Cairo"/>
                <a:ea typeface="Cairo"/>
              </a:rPr>
              <a:t>.</a:t>
            </a:r>
            <a:endParaRPr b="0" lang="en-US" sz="14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Google Shape;194;p19"/>
          <p:cNvSpPr/>
          <p:nvPr/>
        </p:nvSpPr>
        <p:spPr>
          <a:xfrm>
            <a:off x="6286680" y="3953880"/>
            <a:ext cx="5143320" cy="103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59000"/>
              </a:lnSpc>
              <a:tabLst>
                <a:tab algn="l" pos="0"/>
              </a:tabLst>
            </a:pPr>
            <a:r>
              <a:rPr b="1" lang="hi-IN" sz="1430" spc="-1" strike="noStrike">
                <a:solidFill>
                  <a:srgbClr val="475569"/>
                </a:solidFill>
                <a:latin typeface="Cairo"/>
                <a:cs typeface="Cairo"/>
              </a:rPr>
              <a:t>التكيف الناقص</a:t>
            </a:r>
            <a:r>
              <a:rPr b="1" lang="en-US" sz="1430" spc="-1" strike="noStrike">
                <a:solidFill>
                  <a:srgbClr val="475569"/>
                </a:solidFill>
                <a:latin typeface="Cairo"/>
                <a:ea typeface="Cairo"/>
              </a:rPr>
              <a:t> </a:t>
            </a:r>
            <a:r>
              <a:rPr b="0" lang="en-US" sz="1430" spc="-1" strike="noStrike">
                <a:solidFill>
                  <a:srgbClr val="0ea5e9"/>
                </a:solidFill>
                <a:latin typeface="Cairo SemiBold"/>
                <a:ea typeface="Cairo SemiBold"/>
              </a:rPr>
              <a:t>(Underfitting)</a:t>
            </a:r>
            <a:r>
              <a:rPr b="1" lang="en-US" sz="1430" spc="-1" strike="noStrike">
                <a:solidFill>
                  <a:srgbClr val="475569"/>
                </a:solidFill>
                <a:latin typeface="Cairo"/>
                <a:ea typeface="Cairo"/>
              </a:rPr>
              <a:t>:</a:t>
            </a:r>
            <a:r>
              <a:rPr b="0" lang="en-US" sz="1430" spc="-1" strike="noStrike">
                <a:solidFill>
                  <a:srgbClr val="475569"/>
                </a:solidFill>
                <a:latin typeface="Cairo"/>
                <a:ea typeface="Cairo"/>
              </a:rPr>
              <a:t> </a:t>
            </a:r>
            <a:r>
              <a:rPr b="0" lang="hi-IN" sz="1430" spc="-1" strike="noStrike">
                <a:solidFill>
                  <a:srgbClr val="475569"/>
                </a:solidFill>
                <a:latin typeface="Cairo"/>
                <a:cs typeface="Cairo"/>
              </a:rPr>
              <a:t>مثل الطالب الذي أهمل المذاكرة ولم يفهم القواعد أو القوانين الأساسية أصلاً؛ فيفشل بالتبعية في الاختبارات التدريبية والحقيقية معاً لضعف بنائه</a:t>
            </a:r>
            <a:r>
              <a:rPr b="0" lang="en-US" sz="1430" spc="-1" strike="noStrike">
                <a:solidFill>
                  <a:srgbClr val="475569"/>
                </a:solidFill>
                <a:latin typeface="Cairo"/>
                <a:ea typeface="Cairo"/>
              </a:rPr>
              <a:t>.</a:t>
            </a:r>
            <a:endParaRPr b="0" lang="en-US" sz="14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Google Shape;195;p19"/>
          <p:cNvSpPr/>
          <p:nvPr/>
        </p:nvSpPr>
        <p:spPr>
          <a:xfrm>
            <a:off x="6286680" y="4936680"/>
            <a:ext cx="5143320" cy="69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59000"/>
              </a:lnSpc>
              <a:tabLst>
                <a:tab algn="l" pos="0"/>
              </a:tabLst>
            </a:pPr>
            <a:r>
              <a:rPr b="1" lang="hi-IN" sz="1430" spc="-1" strike="noStrike">
                <a:solidFill>
                  <a:srgbClr val="475569"/>
                </a:solidFill>
                <a:latin typeface="Cairo"/>
                <a:cs typeface="Cairo"/>
              </a:rPr>
              <a:t>الحل السليم:</a:t>
            </a:r>
            <a:r>
              <a:rPr b="0" lang="en-US" sz="1430" spc="-1" strike="noStrike">
                <a:solidFill>
                  <a:srgbClr val="475569"/>
                </a:solidFill>
                <a:latin typeface="Cairo"/>
                <a:ea typeface="Cairo"/>
              </a:rPr>
              <a:t> البحث عن نقطة التوازن المثالية التي تتيح للنموذج تعميم المعرفة على البيانات الجديدة بمرونة تامة</a:t>
            </a:r>
            <a:r>
              <a:rPr b="0" lang="en-US" sz="1430" spc="-1" strike="noStrike">
                <a:solidFill>
                  <a:srgbClr val="475569"/>
                </a:solidFill>
                <a:latin typeface="Cairo"/>
                <a:ea typeface="Cairo"/>
              </a:rPr>
              <a:t>.</a:t>
            </a:r>
            <a:endParaRPr b="0" lang="en-US" sz="143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5" name="Google Shape;196;p19" descr="image.png"/>
          <p:cNvPicPr/>
          <p:nvPr/>
        </p:nvPicPr>
        <p:blipFill>
          <a:blip r:embed="rId3"/>
          <a:stretch/>
        </p:blipFill>
        <p:spPr>
          <a:xfrm>
            <a:off x="771480" y="2195640"/>
            <a:ext cx="5124240" cy="3600000"/>
          </a:xfrm>
          <a:prstGeom prst="rect">
            <a:avLst/>
          </a:prstGeom>
          <a:ln w="0">
            <a:noFill/>
          </a:ln>
        </p:spPr>
      </p:pic>
      <p:sp>
        <p:nvSpPr>
          <p:cNvPr id="156" name="Google Shape;197;p19"/>
          <p:cNvSpPr/>
          <p:nvPr/>
        </p:nvSpPr>
        <p:spPr>
          <a:xfrm>
            <a:off x="237960" y="685800"/>
            <a:ext cx="11000880" cy="43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1" lang="hi-IN" sz="2850" spc="-1" strike="noStrike">
                <a:solidFill>
                  <a:srgbClr val="0f172a"/>
                </a:solidFill>
                <a:latin typeface="Cairo"/>
                <a:cs typeface="Cairo"/>
              </a:rPr>
              <a:t>توازن النموذج</a:t>
            </a:r>
            <a:r>
              <a:rPr b="1" lang="en-US" sz="2850" spc="-1" strike="noStrike">
                <a:solidFill>
                  <a:srgbClr val="0f172a"/>
                </a:solidFill>
                <a:latin typeface="Cairo"/>
                <a:ea typeface="Cairo"/>
              </a:rPr>
              <a:t> </a:t>
            </a:r>
            <a:r>
              <a:rPr b="0" lang="en-US" sz="2850" spc="-1" strike="noStrike">
                <a:solidFill>
                  <a:srgbClr val="0ea5e9"/>
                </a:solidFill>
                <a:latin typeface="Cairo SemiBold"/>
                <a:ea typeface="Cairo SemiBold"/>
              </a:rPr>
              <a:t>(Overfitting vs Underfitting)</a:t>
            </a:r>
            <a:endParaRPr b="0" lang="en-US" sz="2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Google Shape;198;p19"/>
          <p:cNvSpPr/>
          <p:nvPr/>
        </p:nvSpPr>
        <p:spPr>
          <a:xfrm>
            <a:off x="11353680" y="685800"/>
            <a:ext cx="75960" cy="685440"/>
          </a:xfrm>
          <a:prstGeom prst="rect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203;p20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sp>
        <p:nvSpPr>
          <p:cNvPr id="159" name="Google Shape;204;p20"/>
          <p:cNvSpPr/>
          <p:nvPr/>
        </p:nvSpPr>
        <p:spPr>
          <a:xfrm>
            <a:off x="0" y="0"/>
            <a:ext cx="12191760" cy="114120"/>
          </a:xfrm>
          <a:prstGeom prst="rect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" name="Google Shape;205;p20"/>
          <p:cNvSpPr/>
          <p:nvPr/>
        </p:nvSpPr>
        <p:spPr>
          <a:xfrm>
            <a:off x="6400800" y="1371960"/>
            <a:ext cx="5143320" cy="15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0500" spc="-1" strike="noStrike">
                <a:solidFill>
                  <a:srgbClr val="0ea5e9"/>
                </a:solidFill>
                <a:latin typeface="Poppins"/>
                <a:ea typeface="Poppins"/>
              </a:rPr>
              <a:t>3</a:t>
            </a:r>
            <a:endParaRPr b="0" lang="en-US" sz="10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Google Shape;206;p20"/>
          <p:cNvSpPr/>
          <p:nvPr/>
        </p:nvSpPr>
        <p:spPr>
          <a:xfrm>
            <a:off x="6400800" y="2902680"/>
            <a:ext cx="5143320" cy="29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hi-IN" sz="1950" spc="-1" strike="noStrike">
                <a:solidFill>
                  <a:srgbClr val="f59e0b"/>
                </a:solidFill>
                <a:latin typeface="Cairo"/>
                <a:cs typeface="Cairo"/>
              </a:rPr>
              <a:t>تحديات تطبيقية تفاعلية</a:t>
            </a: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Google Shape;207;p20"/>
          <p:cNvSpPr/>
          <p:nvPr/>
        </p:nvSpPr>
        <p:spPr>
          <a:xfrm>
            <a:off x="762120" y="2619360"/>
            <a:ext cx="5400360" cy="29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hi-IN" sz="1950" spc="-1" strike="noStrike">
                <a:solidFill>
                  <a:srgbClr val="0f172a"/>
                </a:solidFill>
                <a:latin typeface="Cairo SemiBold"/>
                <a:cs typeface="Cairo SemiBold"/>
              </a:rPr>
              <a:t>أي نوع من أنواع التعلم يناسب السيناريوهات التالية؟</a:t>
            </a: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Google Shape;210;p20"/>
          <p:cNvSpPr/>
          <p:nvPr/>
        </p:nvSpPr>
        <p:spPr>
          <a:xfrm>
            <a:off x="237960" y="685800"/>
            <a:ext cx="11000880" cy="43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1" lang="hi-IN" sz="2850" spc="-1" strike="noStrike">
                <a:solidFill>
                  <a:srgbClr val="0f172a"/>
                </a:solidFill>
                <a:latin typeface="Cairo"/>
                <a:cs typeface="Cairo"/>
              </a:rPr>
              <a:t>تحدي الحصة القصير</a:t>
            </a:r>
            <a:r>
              <a:rPr b="1" lang="en-US" sz="2850" spc="-1" strike="noStrike">
                <a:solidFill>
                  <a:srgbClr val="0f172a"/>
                </a:solidFill>
                <a:latin typeface="Cairo"/>
                <a:ea typeface="Cairo"/>
              </a:rPr>
              <a:t> </a:t>
            </a:r>
            <a:r>
              <a:rPr b="0" lang="en-US" sz="2850" spc="-1" strike="noStrike">
                <a:solidFill>
                  <a:srgbClr val="0ea5e9"/>
                </a:solidFill>
                <a:latin typeface="Cairo SemiBold"/>
                <a:ea typeface="Cairo SemiBold"/>
              </a:rPr>
              <a:t>(Quiz Time!)</a:t>
            </a:r>
            <a:endParaRPr b="0" lang="en-US" sz="2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Google Shape;211;p20"/>
          <p:cNvSpPr/>
          <p:nvPr/>
        </p:nvSpPr>
        <p:spPr>
          <a:xfrm>
            <a:off x="11353680" y="685800"/>
            <a:ext cx="75960" cy="685440"/>
          </a:xfrm>
          <a:prstGeom prst="rect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5" name="Google Shape;218;p 1"/>
          <p:cNvSpPr/>
          <p:nvPr/>
        </p:nvSpPr>
        <p:spPr>
          <a:xfrm>
            <a:off x="685800" y="3566520"/>
            <a:ext cx="1028664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7040" rIns="0" tIns="0" bIns="0" anchor="t">
            <a:spAutoFit/>
          </a:bodyPr>
          <a:p>
            <a:pPr algn="r">
              <a:lnSpc>
                <a:spcPct val="126000"/>
              </a:lnSpc>
              <a:tabLst>
                <a:tab algn="l" pos="0"/>
              </a:tabLst>
            </a:pPr>
            <a:r>
              <a:rPr b="1" lang="hi-IN" sz="1430" spc="-1" strike="noStrike">
                <a:solidFill>
                  <a:srgbClr val="1e293b"/>
                </a:solidFill>
                <a:latin typeface="Cairo"/>
                <a:cs typeface="Cairo"/>
              </a:rPr>
              <a:t>الحالة الطبية:</a:t>
            </a:r>
            <a:r>
              <a:rPr b="0" lang="en-US" sz="1430" spc="-1" strike="noStrike">
                <a:solidFill>
                  <a:srgbClr val="475569"/>
                </a:solidFill>
                <a:latin typeface="Cairo"/>
                <a:ea typeface="Cairo"/>
              </a:rPr>
              <a:t> فرز الأشعة السينية لتحديد الأورام بالاعتماد على صور صنفها أخصائيون مسبقا </a:t>
            </a:r>
            <a:r>
              <a:rPr b="0" lang="en-US" sz="1430" spc="-1" strike="noStrike">
                <a:solidFill>
                  <a:srgbClr val="475569"/>
                </a:solidFill>
                <a:latin typeface="Cairo"/>
                <a:ea typeface="Cairo"/>
              </a:rPr>
              <a:t> لوجود مدخلات ومخرجات مصنفة مسبقاً</a:t>
            </a:r>
            <a:r>
              <a:rPr b="0" lang="en-US" sz="1430" spc="-1" strike="noStrike">
                <a:solidFill>
                  <a:srgbClr val="475569"/>
                </a:solidFill>
                <a:latin typeface="Cairo"/>
                <a:ea typeface="Cairo"/>
              </a:rPr>
              <a:t>.</a:t>
            </a:r>
            <a:endParaRPr b="0" lang="en-US" sz="14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Google Shape;219;p 1"/>
          <p:cNvSpPr/>
          <p:nvPr/>
        </p:nvSpPr>
        <p:spPr>
          <a:xfrm>
            <a:off x="762120" y="4315680"/>
            <a:ext cx="1028664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85840" rIns="0" tIns="0" bIns="0" anchor="t">
            <a:spAutoFit/>
          </a:bodyPr>
          <a:p>
            <a:pPr algn="r">
              <a:lnSpc>
                <a:spcPct val="126000"/>
              </a:lnSpc>
              <a:tabLst>
                <a:tab algn="l" pos="0"/>
              </a:tabLst>
            </a:pPr>
            <a:r>
              <a:rPr b="1" lang="hi-IN" sz="1430" spc="-1" strike="noStrike">
                <a:solidFill>
                  <a:srgbClr val="1e293b"/>
                </a:solidFill>
                <a:latin typeface="Cairo"/>
                <a:cs typeface="Cairo"/>
              </a:rPr>
              <a:t>الحالة التجارية:</a:t>
            </a:r>
            <a:r>
              <a:rPr b="0" lang="en-US" sz="1430" spc="-1" strike="noStrike">
                <a:solidFill>
                  <a:srgbClr val="475569"/>
                </a:solidFill>
                <a:latin typeface="Cairo"/>
                <a:ea typeface="Cairo"/>
              </a:rPr>
              <a:t> تنظيم قوائم آلاف المشترين لمتجر إلكتروني وتقسيمهم تلقائياً بناءً على تقارب سلوكهم الاستهلاكي</a:t>
            </a:r>
            <a:r>
              <a:rPr b="0" lang="en-US" sz="1430" spc="-1" strike="noStrike">
                <a:solidFill>
                  <a:srgbClr val="475569"/>
                </a:solidFill>
                <a:latin typeface="Cairo"/>
                <a:ea typeface="Cairo"/>
              </a:rPr>
              <a:t>  </a:t>
            </a:r>
            <a:r>
              <a:rPr b="0" lang="en-US" sz="1430" spc="-1" strike="noStrike">
                <a:solidFill>
                  <a:srgbClr val="0ea5e9"/>
                </a:solidFill>
                <a:latin typeface="Cairo SemiBold"/>
                <a:ea typeface="Cairo SemiBold"/>
              </a:rPr>
              <a:t> </a:t>
            </a:r>
            <a:endParaRPr b="0" lang="en-US" sz="1430" spc="-1" strike="noStrike">
              <a:solidFill>
                <a:srgbClr val="000000"/>
              </a:solidFill>
              <a:latin typeface="Arial"/>
            </a:endParaRPr>
          </a:p>
          <a:p>
            <a:pPr algn="r">
              <a:lnSpc>
                <a:spcPct val="126000"/>
              </a:lnSpc>
              <a:tabLst>
                <a:tab algn="l" pos="0"/>
              </a:tabLst>
            </a:pPr>
            <a:r>
              <a:rPr b="0" lang="en-US" sz="1430" spc="-1" strike="noStrike">
                <a:solidFill>
                  <a:srgbClr val="475569"/>
                </a:solidFill>
                <a:latin typeface="Cairo"/>
                <a:ea typeface="Cairo"/>
              </a:rPr>
              <a:t> </a:t>
            </a:r>
            <a:r>
              <a:rPr b="0" lang="hi-IN" sz="1430" spc="-1" strike="noStrike">
                <a:solidFill>
                  <a:srgbClr val="475569"/>
                </a:solidFill>
                <a:latin typeface="Cairo"/>
                <a:cs typeface="Cairo"/>
              </a:rPr>
              <a:t>بهدف الكشف الذاتي عن العلاقات المخفية</a:t>
            </a:r>
            <a:r>
              <a:rPr b="0" lang="en-US" sz="1430" spc="-1" strike="noStrike">
                <a:solidFill>
                  <a:srgbClr val="475569"/>
                </a:solidFill>
                <a:latin typeface="Cairo"/>
                <a:ea typeface="Cairo"/>
              </a:rPr>
              <a:t>.</a:t>
            </a:r>
            <a:endParaRPr b="0" lang="en-US" sz="14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Google Shape;220;p 1"/>
          <p:cNvSpPr/>
          <p:nvPr/>
        </p:nvSpPr>
        <p:spPr>
          <a:xfrm>
            <a:off x="762120" y="5132880"/>
            <a:ext cx="10286640" cy="61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28600" rIns="0" tIns="0" bIns="0" anchor="t">
            <a:spAutoFit/>
          </a:bodyPr>
          <a:p>
            <a:pPr algn="r">
              <a:lnSpc>
                <a:spcPct val="126000"/>
              </a:lnSpc>
              <a:tabLst>
                <a:tab algn="l" pos="0"/>
              </a:tabLst>
            </a:pPr>
            <a:r>
              <a:rPr b="1" lang="hi-IN" sz="1430" spc="-1" strike="noStrike">
                <a:solidFill>
                  <a:srgbClr val="1e293b"/>
                </a:solidFill>
                <a:latin typeface="Cairo"/>
                <a:cs typeface="Cairo"/>
              </a:rPr>
              <a:t>الحالة الميكانيكية:</a:t>
            </a:r>
            <a:r>
              <a:rPr b="0" lang="en-US" sz="1430" spc="-1" strike="noStrike">
                <a:solidFill>
                  <a:srgbClr val="475569"/>
                </a:solidFill>
                <a:latin typeface="Cairo"/>
                <a:ea typeface="Cairo"/>
              </a:rPr>
              <a:t> تعليم ذراع روبوت كيفية توازن عصا بذكاء عن طريق المحاولة والخطأ والتعديل المستمر</a:t>
            </a:r>
            <a:r>
              <a:rPr b="0" lang="en-US" sz="1430" spc="-1" strike="noStrike">
                <a:solidFill>
                  <a:srgbClr val="475569"/>
                </a:solidFill>
                <a:latin typeface="Cairo"/>
                <a:ea typeface="Cairo"/>
              </a:rPr>
              <a:t>. </a:t>
            </a:r>
            <a:br>
              <a:rPr sz="1800"/>
            </a:br>
            <a:r>
              <a:rPr b="0" lang="en-US" sz="1800" spc="-1" strike="noStrike">
                <a:solidFill>
                  <a:schemeClr val="dk1"/>
                </a:solidFill>
                <a:latin typeface="Calibri"/>
                <a:ea typeface="Calibri"/>
              </a:rPr>
              <a:t> </a:t>
            </a:r>
            <a:r>
              <a:rPr b="1" lang="en-US" sz="1430" spc="-1" strike="noStrike">
                <a:solidFill>
                  <a:srgbClr val="0ea5e9"/>
                </a:solidFill>
                <a:latin typeface="Cairo"/>
                <a:ea typeface="Cairo"/>
              </a:rPr>
              <a:t>   </a:t>
            </a:r>
            <a:r>
              <a:rPr b="0" lang="en-US" sz="1430" spc="-1" strike="noStrike">
                <a:solidFill>
                  <a:srgbClr val="475569"/>
                </a:solidFill>
                <a:latin typeface="Cairo"/>
                <a:ea typeface="Cairo"/>
              </a:rPr>
              <a:t>     </a:t>
            </a:r>
            <a:endParaRPr b="0" lang="en-US" sz="143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216;p21" descr="image.png"/>
          <p:cNvPicPr/>
          <p:nvPr/>
        </p:nvPicPr>
        <p:blipFill>
          <a:blip r:embed="rId1"/>
          <a:stretch/>
        </p:blipFill>
        <p:spPr>
          <a:xfrm>
            <a:off x="0" y="-685440"/>
            <a:ext cx="12191760" cy="6857640"/>
          </a:xfrm>
          <a:prstGeom prst="rect">
            <a:avLst/>
          </a:prstGeom>
          <a:ln w="0">
            <a:noFill/>
          </a:ln>
        </p:spPr>
      </p:pic>
      <p:sp>
        <p:nvSpPr>
          <p:cNvPr id="169" name="Google Shape;217;p21"/>
          <p:cNvSpPr/>
          <p:nvPr/>
        </p:nvSpPr>
        <p:spPr>
          <a:xfrm>
            <a:off x="0" y="0"/>
            <a:ext cx="12191760" cy="114120"/>
          </a:xfrm>
          <a:prstGeom prst="rect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" name="Google Shape;218;p21"/>
          <p:cNvSpPr/>
          <p:nvPr/>
        </p:nvSpPr>
        <p:spPr>
          <a:xfrm>
            <a:off x="762120" y="2770200"/>
            <a:ext cx="10286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7040" rIns="0" tIns="0" bIns="0" anchor="t">
            <a:spAutoFit/>
          </a:bodyPr>
          <a:p>
            <a:pPr algn="r">
              <a:lnSpc>
                <a:spcPct val="126000"/>
              </a:lnSpc>
              <a:tabLst>
                <a:tab algn="l" pos="0"/>
              </a:tabLst>
            </a:pPr>
            <a:r>
              <a:rPr b="1" lang="hi-IN" sz="1430" spc="-1" strike="noStrike">
                <a:solidFill>
                  <a:srgbClr val="1e293b"/>
                </a:solidFill>
                <a:latin typeface="Cairo"/>
                <a:cs typeface="Cairo"/>
              </a:rPr>
              <a:t>الحالة الطبية:</a:t>
            </a:r>
            <a:r>
              <a:rPr b="0" lang="en-US" sz="1430" spc="-1" strike="noStrike">
                <a:solidFill>
                  <a:srgbClr val="475569"/>
                </a:solidFill>
                <a:latin typeface="Cairo"/>
                <a:ea typeface="Cairo"/>
              </a:rPr>
              <a:t> فرز الأشعة السينية لتحديد الأورام بالاعتماد على صور صنفها أخصائيون مسبقاً. </a:t>
            </a:r>
            <a:br>
              <a:rPr sz="1800"/>
            </a:br>
            <a:r>
              <a:rPr b="1" lang="hi-IN" sz="1430" spc="-1" strike="noStrike">
                <a:solidFill>
                  <a:srgbClr val="0ea5e9"/>
                </a:solidFill>
                <a:latin typeface="Cairo"/>
                <a:cs typeface="Cairo"/>
              </a:rPr>
              <a:t>الحل الصحيح:</a:t>
            </a:r>
            <a:r>
              <a:rPr b="0" lang="en-US" sz="1430" spc="-1" strike="noStrike">
                <a:solidFill>
                  <a:srgbClr val="475569"/>
                </a:solidFill>
                <a:latin typeface="Cairo"/>
                <a:ea typeface="Cairo"/>
              </a:rPr>
              <a:t> التعلم الخاضع للإشراف</a:t>
            </a:r>
            <a:r>
              <a:rPr b="0" lang="en-US" sz="1430" spc="-1" strike="noStrike">
                <a:solidFill>
                  <a:srgbClr val="475569"/>
                </a:solidFill>
                <a:latin typeface="Cairo"/>
                <a:ea typeface="Cairo"/>
              </a:rPr>
              <a:t> </a:t>
            </a:r>
            <a:r>
              <a:rPr b="0" lang="en-US" sz="1430" spc="-1" strike="noStrike">
                <a:solidFill>
                  <a:srgbClr val="0ea5e9"/>
                </a:solidFill>
                <a:latin typeface="Cairo SemiBold"/>
                <a:ea typeface="Cairo SemiBold"/>
              </a:rPr>
              <a:t>(Supervised Learning)</a:t>
            </a:r>
            <a:r>
              <a:rPr b="0" lang="en-US" sz="1430" spc="-1" strike="noStrike">
                <a:solidFill>
                  <a:srgbClr val="475569"/>
                </a:solidFill>
                <a:latin typeface="Cairo"/>
                <a:ea typeface="Cairo"/>
              </a:rPr>
              <a:t> </a:t>
            </a:r>
            <a:r>
              <a:rPr b="0" lang="hi-IN" sz="1430" spc="-1" strike="noStrike">
                <a:solidFill>
                  <a:srgbClr val="475569"/>
                </a:solidFill>
                <a:latin typeface="Cairo"/>
                <a:cs typeface="Cairo"/>
              </a:rPr>
              <a:t>لوجود مدخلات ومخرجات مصنفة مسبقاً</a:t>
            </a:r>
            <a:r>
              <a:rPr b="0" lang="en-US" sz="1430" spc="-1" strike="noStrike">
                <a:solidFill>
                  <a:srgbClr val="475569"/>
                </a:solidFill>
                <a:latin typeface="Cairo"/>
                <a:ea typeface="Cairo"/>
              </a:rPr>
              <a:t>.</a:t>
            </a:r>
            <a:endParaRPr b="0" lang="en-US" sz="14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Google Shape;219;p21"/>
          <p:cNvSpPr/>
          <p:nvPr/>
        </p:nvSpPr>
        <p:spPr>
          <a:xfrm>
            <a:off x="762120" y="3587040"/>
            <a:ext cx="10286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85840" rIns="0" tIns="0" bIns="0" anchor="t">
            <a:spAutoFit/>
          </a:bodyPr>
          <a:p>
            <a:pPr algn="r">
              <a:lnSpc>
                <a:spcPct val="126000"/>
              </a:lnSpc>
              <a:tabLst>
                <a:tab algn="l" pos="0"/>
              </a:tabLst>
            </a:pPr>
            <a:r>
              <a:rPr b="1" lang="hi-IN" sz="1430" spc="-1" strike="noStrike">
                <a:solidFill>
                  <a:srgbClr val="1e293b"/>
                </a:solidFill>
                <a:latin typeface="Cairo"/>
                <a:cs typeface="Cairo"/>
              </a:rPr>
              <a:t>الحالة التجارية:</a:t>
            </a:r>
            <a:r>
              <a:rPr b="0" lang="en-US" sz="1430" spc="-1" strike="noStrike">
                <a:solidFill>
                  <a:srgbClr val="475569"/>
                </a:solidFill>
                <a:latin typeface="Cairo"/>
                <a:ea typeface="Cairo"/>
              </a:rPr>
              <a:t> تنظيم قوائم آلاف المشترين لمتجر إلكتروني وتقسيمهم تلقائياً بناءً على تقارب سلوكهم الاستهلاكي. </a:t>
            </a:r>
            <a:br>
              <a:rPr sz="1800"/>
            </a:br>
            <a:r>
              <a:rPr b="1" lang="hi-IN" sz="1430" spc="-1" strike="noStrike">
                <a:solidFill>
                  <a:srgbClr val="0ea5e9"/>
                </a:solidFill>
                <a:latin typeface="Cairo"/>
                <a:cs typeface="Cairo"/>
              </a:rPr>
              <a:t>الحل الصحيح:</a:t>
            </a:r>
            <a:r>
              <a:rPr b="0" lang="en-US" sz="1430" spc="-1" strike="noStrike">
                <a:solidFill>
                  <a:srgbClr val="475569"/>
                </a:solidFill>
                <a:latin typeface="Cairo"/>
                <a:ea typeface="Cairo"/>
              </a:rPr>
              <a:t> التعلم غير الخاضع للإشراف</a:t>
            </a:r>
            <a:r>
              <a:rPr b="0" lang="en-US" sz="1430" spc="-1" strike="noStrike">
                <a:solidFill>
                  <a:srgbClr val="475569"/>
                </a:solidFill>
                <a:latin typeface="Cairo"/>
                <a:ea typeface="Cairo"/>
              </a:rPr>
              <a:t> </a:t>
            </a:r>
            <a:r>
              <a:rPr b="0" lang="en-US" sz="1430" spc="-1" strike="noStrike">
                <a:solidFill>
                  <a:srgbClr val="0ea5e9"/>
                </a:solidFill>
                <a:latin typeface="Cairo SemiBold"/>
                <a:ea typeface="Cairo SemiBold"/>
              </a:rPr>
              <a:t>(Unsupervised Learning)</a:t>
            </a:r>
            <a:r>
              <a:rPr b="0" lang="en-US" sz="1430" spc="-1" strike="noStrike">
                <a:solidFill>
                  <a:srgbClr val="475569"/>
                </a:solidFill>
                <a:latin typeface="Cairo"/>
                <a:ea typeface="Cairo"/>
              </a:rPr>
              <a:t> </a:t>
            </a:r>
            <a:r>
              <a:rPr b="0" lang="hi-IN" sz="1430" spc="-1" strike="noStrike">
                <a:solidFill>
                  <a:srgbClr val="475569"/>
                </a:solidFill>
                <a:latin typeface="Cairo"/>
                <a:cs typeface="Cairo"/>
              </a:rPr>
              <a:t>بهدف الكشف الذاتي عن العلاقات المخفية</a:t>
            </a:r>
            <a:r>
              <a:rPr b="0" lang="en-US" sz="1430" spc="-1" strike="noStrike">
                <a:solidFill>
                  <a:srgbClr val="475569"/>
                </a:solidFill>
                <a:latin typeface="Cairo"/>
                <a:ea typeface="Cairo"/>
              </a:rPr>
              <a:t>.</a:t>
            </a:r>
            <a:endParaRPr b="0" lang="en-US" sz="14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Google Shape;220;p21"/>
          <p:cNvSpPr/>
          <p:nvPr/>
        </p:nvSpPr>
        <p:spPr>
          <a:xfrm>
            <a:off x="762120" y="4404240"/>
            <a:ext cx="10286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28600" rIns="0" tIns="0" bIns="0" anchor="t">
            <a:spAutoFit/>
          </a:bodyPr>
          <a:p>
            <a:pPr algn="r">
              <a:lnSpc>
                <a:spcPct val="126000"/>
              </a:lnSpc>
              <a:tabLst>
                <a:tab algn="l" pos="0"/>
              </a:tabLst>
            </a:pPr>
            <a:r>
              <a:rPr b="1" lang="hi-IN" sz="1430" spc="-1" strike="noStrike">
                <a:solidFill>
                  <a:srgbClr val="1e293b"/>
                </a:solidFill>
                <a:latin typeface="Cairo"/>
                <a:cs typeface="Cairo"/>
              </a:rPr>
              <a:t>الحالة الميكانيكية:</a:t>
            </a:r>
            <a:r>
              <a:rPr b="0" lang="en-US" sz="1430" spc="-1" strike="noStrike">
                <a:solidFill>
                  <a:srgbClr val="475569"/>
                </a:solidFill>
                <a:latin typeface="Cairo"/>
                <a:ea typeface="Cairo"/>
              </a:rPr>
              <a:t> تعليم ذراع روبوت كيفية توازن عصا بذكاء عن طريق المحاولة والخطأ والتعديل المستمر. </a:t>
            </a:r>
            <a:br>
              <a:rPr sz="1800"/>
            </a:br>
            <a:r>
              <a:rPr b="1" lang="hi-IN" sz="1430" spc="-1" strike="noStrike">
                <a:solidFill>
                  <a:srgbClr val="0ea5e9"/>
                </a:solidFill>
                <a:latin typeface="Cairo"/>
                <a:cs typeface="Cairo"/>
              </a:rPr>
              <a:t>الحل الصحيح:</a:t>
            </a:r>
            <a:r>
              <a:rPr b="0" lang="en-US" sz="1430" spc="-1" strike="noStrike">
                <a:solidFill>
                  <a:srgbClr val="475569"/>
                </a:solidFill>
                <a:latin typeface="Cairo"/>
                <a:ea typeface="Cairo"/>
              </a:rPr>
              <a:t> التعلم المعزز</a:t>
            </a:r>
            <a:r>
              <a:rPr b="0" lang="en-US" sz="1430" spc="-1" strike="noStrike">
                <a:solidFill>
                  <a:srgbClr val="475569"/>
                </a:solidFill>
                <a:latin typeface="Cairo"/>
                <a:ea typeface="Cairo"/>
              </a:rPr>
              <a:t> </a:t>
            </a:r>
            <a:r>
              <a:rPr b="0" lang="en-US" sz="1430" spc="-1" strike="noStrike">
                <a:solidFill>
                  <a:srgbClr val="0ea5e9"/>
                </a:solidFill>
                <a:latin typeface="Cairo SemiBold"/>
                <a:ea typeface="Cairo SemiBold"/>
              </a:rPr>
              <a:t>(Reinforcement Learning)</a:t>
            </a:r>
            <a:r>
              <a:rPr b="0" lang="en-US" sz="1430" spc="-1" strike="noStrike">
                <a:solidFill>
                  <a:srgbClr val="475569"/>
                </a:solidFill>
                <a:latin typeface="Cairo"/>
                <a:ea typeface="Cairo"/>
              </a:rPr>
              <a:t> </a:t>
            </a:r>
            <a:r>
              <a:rPr b="0" lang="hi-IN" sz="1430" spc="-1" strike="noStrike">
                <a:solidFill>
                  <a:srgbClr val="475569"/>
                </a:solidFill>
                <a:latin typeface="Cairo"/>
                <a:cs typeface="Cairo"/>
              </a:rPr>
              <a:t>عبر التفاعل المباشر مع حركة العصا ونظام الجائزة</a:t>
            </a:r>
            <a:r>
              <a:rPr b="0" lang="en-US" sz="1430" spc="-1" strike="noStrike">
                <a:solidFill>
                  <a:srgbClr val="475569"/>
                </a:solidFill>
                <a:latin typeface="Cairo"/>
                <a:ea typeface="Cairo"/>
              </a:rPr>
              <a:t>.</a:t>
            </a:r>
            <a:endParaRPr b="0" lang="en-US" sz="143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3" name="Google Shape;221;p21" descr="image.png"/>
          <p:cNvPicPr/>
          <p:nvPr/>
        </p:nvPicPr>
        <p:blipFill>
          <a:blip r:embed="rId2"/>
          <a:stretch/>
        </p:blipFill>
        <p:spPr>
          <a:xfrm>
            <a:off x="11172960" y="2808360"/>
            <a:ext cx="256680" cy="247320"/>
          </a:xfrm>
          <a:prstGeom prst="rect">
            <a:avLst/>
          </a:prstGeom>
          <a:ln w="0">
            <a:noFill/>
          </a:ln>
        </p:spPr>
      </p:pic>
      <p:pic>
        <p:nvPicPr>
          <p:cNvPr id="174" name="Google Shape;222;p21" descr="image.png"/>
          <p:cNvPicPr/>
          <p:nvPr/>
        </p:nvPicPr>
        <p:blipFill>
          <a:blip r:embed="rId3"/>
          <a:stretch/>
        </p:blipFill>
        <p:spPr>
          <a:xfrm>
            <a:off x="11144160" y="3625200"/>
            <a:ext cx="285480" cy="247320"/>
          </a:xfrm>
          <a:prstGeom prst="rect">
            <a:avLst/>
          </a:prstGeom>
          <a:ln w="0">
            <a:noFill/>
          </a:ln>
        </p:spPr>
      </p:pic>
      <p:pic>
        <p:nvPicPr>
          <p:cNvPr id="175" name="Google Shape;223;p21" descr="image.png"/>
          <p:cNvPicPr/>
          <p:nvPr/>
        </p:nvPicPr>
        <p:blipFill>
          <a:blip r:embed="rId4"/>
          <a:stretch/>
        </p:blipFill>
        <p:spPr>
          <a:xfrm>
            <a:off x="11201400" y="4442400"/>
            <a:ext cx="228240" cy="247320"/>
          </a:xfrm>
          <a:prstGeom prst="rect">
            <a:avLst/>
          </a:prstGeom>
          <a:ln w="0">
            <a:noFill/>
          </a:ln>
        </p:spPr>
      </p:pic>
      <p:sp>
        <p:nvSpPr>
          <p:cNvPr id="176" name="Google Shape;224;p21"/>
          <p:cNvSpPr/>
          <p:nvPr/>
        </p:nvSpPr>
        <p:spPr>
          <a:xfrm>
            <a:off x="237960" y="685800"/>
            <a:ext cx="11000880" cy="43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1" lang="hi-IN" sz="2850" spc="-1" strike="noStrike">
                <a:solidFill>
                  <a:srgbClr val="0f172a"/>
                </a:solidFill>
                <a:latin typeface="Cairo"/>
                <a:cs typeface="Cairo"/>
              </a:rPr>
              <a:t>تفاصيل وسيناريوهات الاختبار والحل</a:t>
            </a:r>
            <a:r>
              <a:rPr b="1" lang="en-US" sz="2850" spc="-1" strike="noStrike">
                <a:solidFill>
                  <a:srgbClr val="0f172a"/>
                </a:solidFill>
                <a:latin typeface="Cairo"/>
                <a:ea typeface="Cairo"/>
              </a:rPr>
              <a:t> </a:t>
            </a:r>
            <a:r>
              <a:rPr b="0" lang="en-US" sz="2850" spc="-1" strike="noStrike">
                <a:solidFill>
                  <a:srgbClr val="0ea5e9"/>
                </a:solidFill>
                <a:latin typeface="Cairo SemiBold"/>
                <a:ea typeface="Cairo SemiBold"/>
              </a:rPr>
              <a:t>(Wrap-up)</a:t>
            </a:r>
            <a:endParaRPr b="0" lang="en-US" sz="2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Google Shape;225;p21"/>
          <p:cNvSpPr/>
          <p:nvPr/>
        </p:nvSpPr>
        <p:spPr>
          <a:xfrm>
            <a:off x="11353680" y="685800"/>
            <a:ext cx="75960" cy="685440"/>
          </a:xfrm>
          <a:prstGeom prst="rect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230;p22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sp>
        <p:nvSpPr>
          <p:cNvPr id="179" name="Google Shape;231;p22"/>
          <p:cNvSpPr/>
          <p:nvPr/>
        </p:nvSpPr>
        <p:spPr>
          <a:xfrm>
            <a:off x="0" y="0"/>
            <a:ext cx="12191760" cy="114120"/>
          </a:xfrm>
          <a:prstGeom prst="rect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" name="Google Shape;232;p22"/>
          <p:cNvSpPr/>
          <p:nvPr/>
        </p:nvSpPr>
        <p:spPr>
          <a:xfrm>
            <a:off x="762120" y="2724120"/>
            <a:ext cx="10667520" cy="78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Google Shape;233;p22"/>
          <p:cNvSpPr/>
          <p:nvPr/>
        </p:nvSpPr>
        <p:spPr>
          <a:xfrm>
            <a:off x="762120" y="3508920"/>
            <a:ext cx="10667520" cy="98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Google Shape;234;p22"/>
          <p:cNvSpPr/>
          <p:nvPr/>
        </p:nvSpPr>
        <p:spPr>
          <a:xfrm>
            <a:off x="762120" y="3499560"/>
            <a:ext cx="10667520" cy="9000"/>
          </a:xfrm>
          <a:prstGeom prst="rect">
            <a:avLst/>
          </a:prstGeom>
          <a:solidFill>
            <a:srgbClr val="7575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3" name="Google Shape;235;p22"/>
          <p:cNvSpPr/>
          <p:nvPr/>
        </p:nvSpPr>
        <p:spPr>
          <a:xfrm>
            <a:off x="762120" y="3499560"/>
            <a:ext cx="10667520" cy="9000"/>
          </a:xfrm>
          <a:prstGeom prst="rect">
            <a:avLst/>
          </a:prstGeom>
          <a:solidFill>
            <a:srgbClr val="7575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4" name="Google Shape;236;p22"/>
          <p:cNvSpPr/>
          <p:nvPr/>
        </p:nvSpPr>
        <p:spPr>
          <a:xfrm>
            <a:off x="762120" y="4482360"/>
            <a:ext cx="10667520" cy="9000"/>
          </a:xfrm>
          <a:prstGeom prst="rect">
            <a:avLst/>
          </a:prstGeom>
          <a:solidFill>
            <a:srgbClr val="7575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" name="Google Shape;237;p22"/>
          <p:cNvSpPr/>
          <p:nvPr/>
        </p:nvSpPr>
        <p:spPr>
          <a:xfrm>
            <a:off x="762120" y="4482360"/>
            <a:ext cx="10667520" cy="9000"/>
          </a:xfrm>
          <a:prstGeom prst="rect">
            <a:avLst/>
          </a:prstGeom>
          <a:solidFill>
            <a:srgbClr val="7575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4680" bIns="46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86" name="Google Shape;238;p22" descr="image.png"/>
          <p:cNvPicPr/>
          <p:nvPr/>
        </p:nvPicPr>
        <p:blipFill>
          <a:blip r:embed="rId2"/>
          <a:stretch/>
        </p:blipFill>
        <p:spPr>
          <a:xfrm>
            <a:off x="10572840" y="2873880"/>
            <a:ext cx="856800" cy="475920"/>
          </a:xfrm>
          <a:prstGeom prst="rect">
            <a:avLst/>
          </a:prstGeom>
          <a:ln w="0">
            <a:noFill/>
          </a:ln>
        </p:spPr>
      </p:pic>
      <p:sp>
        <p:nvSpPr>
          <p:cNvPr id="187" name="Google Shape;239;p22"/>
          <p:cNvSpPr/>
          <p:nvPr/>
        </p:nvSpPr>
        <p:spPr>
          <a:xfrm>
            <a:off x="762120" y="2867040"/>
            <a:ext cx="95724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6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475569"/>
                </a:solidFill>
                <a:latin typeface="Cairo"/>
                <a:ea typeface="Cairo"/>
              </a:rPr>
              <a:t>https://upload.wikimedia.org/wikipedia/commons/thumb/4/46/Colored_neural_network.svg/1280px-Colored_neural_network.svg.png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Google Shape;240;p22"/>
          <p:cNvSpPr/>
          <p:nvPr/>
        </p:nvSpPr>
        <p:spPr>
          <a:xfrm>
            <a:off x="762120" y="3112920"/>
            <a:ext cx="957240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6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475569"/>
                </a:solidFill>
                <a:latin typeface="Cairo"/>
                <a:ea typeface="Cairo"/>
              </a:rPr>
              <a:t>Source: </a:t>
            </a:r>
            <a:r>
              <a:rPr b="0" lang="en-US" sz="1200" spc="-1" strike="noStrike">
                <a:solidFill>
                  <a:srgbClr val="4f46e5"/>
                </a:solidFill>
                <a:latin typeface="Cairo"/>
                <a:ea typeface="Cairo"/>
              </a:rPr>
              <a:t>en.wikipedia.org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9" name="Google Shape;241;p22" descr="image.png"/>
          <p:cNvPicPr/>
          <p:nvPr/>
        </p:nvPicPr>
        <p:blipFill>
          <a:blip r:embed="rId3"/>
          <a:stretch/>
        </p:blipFill>
        <p:spPr>
          <a:xfrm>
            <a:off x="10572840" y="3757680"/>
            <a:ext cx="856800" cy="475920"/>
          </a:xfrm>
          <a:prstGeom prst="rect">
            <a:avLst/>
          </a:prstGeom>
          <a:ln w="0">
            <a:noFill/>
          </a:ln>
        </p:spPr>
      </p:pic>
      <p:sp>
        <p:nvSpPr>
          <p:cNvPr id="190" name="Google Shape;242;p22"/>
          <p:cNvSpPr/>
          <p:nvPr/>
        </p:nvSpPr>
        <p:spPr>
          <a:xfrm>
            <a:off x="762120" y="3651840"/>
            <a:ext cx="957240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6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475569"/>
                </a:solidFill>
                <a:latin typeface="Cairo"/>
                <a:ea typeface="Cairo"/>
              </a:rPr>
              <a:t>https://static.wixstatic.com/media/faead9_8620614a114944e49c10c84b6ec2d256~mv2.png/v1/fill/w_588,h_588,al_c,q_85,usm_0.66_1.00_0.01,enc_avif,quality_auto/faead9_8620614a114944e49c10c84b6ec2d256~mv2.png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Google Shape;243;p22"/>
          <p:cNvSpPr/>
          <p:nvPr/>
        </p:nvSpPr>
        <p:spPr>
          <a:xfrm>
            <a:off x="762120" y="4095720"/>
            <a:ext cx="957240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6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475569"/>
                </a:solidFill>
                <a:latin typeface="Cairo"/>
                <a:ea typeface="Cairo"/>
              </a:rPr>
              <a:t>Source: </a:t>
            </a:r>
            <a:r>
              <a:rPr b="0" lang="en-US" sz="1200" spc="-1" strike="noStrike">
                <a:solidFill>
                  <a:srgbClr val="4f46e5"/>
                </a:solidFill>
                <a:latin typeface="Cairo"/>
                <a:ea typeface="Cairo"/>
              </a:rPr>
              <a:t>www.blueskyrobotics.ai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2" name="Google Shape;244;p22" descr="image.png"/>
          <p:cNvPicPr/>
          <p:nvPr/>
        </p:nvPicPr>
        <p:blipFill>
          <a:blip r:embed="rId4"/>
          <a:stretch/>
        </p:blipFill>
        <p:spPr>
          <a:xfrm>
            <a:off x="10572840" y="4641480"/>
            <a:ext cx="856800" cy="475920"/>
          </a:xfrm>
          <a:prstGeom prst="rect">
            <a:avLst/>
          </a:prstGeom>
          <a:ln w="0">
            <a:noFill/>
          </a:ln>
        </p:spPr>
      </p:pic>
      <p:sp>
        <p:nvSpPr>
          <p:cNvPr id="193" name="Google Shape;245;p22"/>
          <p:cNvSpPr/>
          <p:nvPr/>
        </p:nvSpPr>
        <p:spPr>
          <a:xfrm>
            <a:off x="762120" y="4634640"/>
            <a:ext cx="95724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6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475569"/>
                </a:solidFill>
                <a:latin typeface="Cairo"/>
                <a:ea typeface="Cairo"/>
              </a:rPr>
              <a:t>https://analystprep.com/study-notes/wp-content/uploads/2021/03/Img_13.jpg</a:t>
            </a:r>
            <a:endParaRPr b="0" lang="en-U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Google Shape;246;p22"/>
          <p:cNvSpPr/>
          <p:nvPr/>
        </p:nvSpPr>
        <p:spPr>
          <a:xfrm>
            <a:off x="762120" y="4880520"/>
            <a:ext cx="957240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6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475569"/>
                </a:solidFill>
                <a:latin typeface="Cairo"/>
                <a:ea typeface="Cairo"/>
              </a:rPr>
              <a:t>Source: </a:t>
            </a:r>
            <a:r>
              <a:rPr b="0" lang="en-US" sz="1200" spc="-1" strike="noStrike">
                <a:solidFill>
                  <a:srgbClr val="4f46e5"/>
                </a:solidFill>
                <a:latin typeface="Cairo"/>
                <a:ea typeface="Cairo"/>
              </a:rPr>
              <a:t>analystprep.com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Google Shape;247;p22"/>
          <p:cNvSpPr/>
          <p:nvPr/>
        </p:nvSpPr>
        <p:spPr>
          <a:xfrm>
            <a:off x="237960" y="685800"/>
            <a:ext cx="11000880" cy="43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1" lang="en-US" sz="2850" spc="-1" strike="noStrike">
                <a:solidFill>
                  <a:srgbClr val="0f172a"/>
                </a:solidFill>
                <a:latin typeface="Cairo"/>
                <a:ea typeface="Cairo"/>
              </a:rPr>
              <a:t>Image Sources</a:t>
            </a:r>
            <a:endParaRPr b="0" lang="en-US" sz="2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Google Shape;248;p22"/>
          <p:cNvSpPr/>
          <p:nvPr/>
        </p:nvSpPr>
        <p:spPr>
          <a:xfrm>
            <a:off x="11353680" y="685800"/>
            <a:ext cx="75960" cy="685440"/>
          </a:xfrm>
          <a:prstGeom prst="rect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2026-06-03T21:46:34Z</dcterms:modified>
  <cp:revision>2</cp:revision>
  <dc:subject/>
  <dc:title/>
</cp:coreProperties>
</file>